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2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685800"/>
            <a:ext cx="16482060" cy="33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spc="264" kern="0" dirty="0">
                <a:solidFill>
                  <a:srgbClr val="6F76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MASTER'S PROGRAMME · COMPUTER VISION AND ROBOTICS</a:t>
            </a:r>
            <a:endParaRPr lang="en-US" sz="1650" dirty="0"/>
          </a:p>
        </p:txBody>
      </p:sp>
      <p:sp>
        <p:nvSpPr>
          <p:cNvPr id="3" name="Shape 1"/>
          <p:cNvSpPr/>
          <p:nvPr/>
        </p:nvSpPr>
        <p:spPr>
          <a:xfrm>
            <a:off x="1143000" y="1150620"/>
            <a:ext cx="2095500" cy="19050"/>
          </a:xfrm>
          <a:prstGeom prst="rect">
            <a:avLst/>
          </a:prstGeom>
          <a:solidFill>
            <a:srgbClr val="161A24"/>
          </a:solidFill>
          <a:ln/>
        </p:spPr>
      </p:sp>
      <p:sp>
        <p:nvSpPr>
          <p:cNvPr id="4" name="Text 2"/>
          <p:cNvSpPr/>
          <p:nvPr/>
        </p:nvSpPr>
        <p:spPr>
          <a:xfrm>
            <a:off x="1143000" y="1552694"/>
            <a:ext cx="15697200" cy="244744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9300" spc="-186" kern="0" dirty="0">
                <a:solidFill>
                  <a:srgbClr val="161A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</a:t>
            </a:r>
            <a:pPr algn="l" indent="0" marL="0">
              <a:lnSpc>
                <a:spcPct val="102000"/>
              </a:lnSpc>
              <a:buNone/>
            </a:pPr>
            <a:r>
              <a:rPr lang="en-US" sz="9300" i="1" spc="-186" kern="0" dirty="0">
                <a:solidFill>
                  <a:srgbClr val="B14A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Monocular </a:t>
            </a:r>
            <a:pPr algn="l" indent="0" marL="0">
              <a:lnSpc>
                <a:spcPct val="102000"/>
              </a:lnSpc>
              <a:buNone/>
            </a:pPr>
            <a:r>
              <a:rPr lang="en-US" sz="9300" spc="-186" kern="0" dirty="0">
                <a:solidFill>
                  <a:srgbClr val="161A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 </a:t>
            </a:r>
            <a:pPr algn="l" indent="0" marL="0">
              <a:lnSpc>
                <a:spcPct val="102000"/>
              </a:lnSpc>
              <a:buNone/>
            </a:pPr>
            <a:r>
              <a:rPr lang="en-US" sz="9300" i="1" spc="-186" kern="0" dirty="0">
                <a:solidFill>
                  <a:srgbClr val="2A6F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Stereo </a:t>
            </a:r>
            <a:pPr algn="l" indent="0" marL="0">
              <a:lnSpc>
                <a:spcPct val="102000"/>
              </a:lnSpc>
              <a:buNone/>
            </a:pPr>
            <a:r>
              <a:rPr lang="en-US" sz="9300" spc="-186" kern="0" dirty="0">
                <a:solidFill>
                  <a:srgbClr val="161A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Visual Odometry</a:t>
            </a:r>
            <a:endParaRPr lang="en-US" sz="9300" dirty="0"/>
          </a:p>
        </p:txBody>
      </p:sp>
      <p:sp>
        <p:nvSpPr>
          <p:cNvPr id="5" name="Text 3"/>
          <p:cNvSpPr/>
          <p:nvPr/>
        </p:nvSpPr>
        <p:spPr>
          <a:xfrm>
            <a:off x="1143000" y="4266843"/>
            <a:ext cx="15697200" cy="5410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300" i="1" dirty="0">
                <a:solidFill>
                  <a:srgbClr val="2B31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Recovering metric scale on the TUM VI fisheye benchmark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1143000" y="5152906"/>
            <a:ext cx="2840948" cy="33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spc="264" kern="0" dirty="0">
                <a:solidFill>
                  <a:srgbClr val="6F76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AUTHORS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1143000" y="5579626"/>
            <a:ext cx="2840948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250" dirty="0">
                <a:solidFill>
                  <a:srgbClr val="16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Ahmad Rammal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1143000" y="5979676"/>
            <a:ext cx="2840948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250" dirty="0">
                <a:solidFill>
                  <a:srgbClr val="16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Md Tanvir Chowdhury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13661448" y="5547241"/>
            <a:ext cx="3483552" cy="33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650" spc="264" kern="0" dirty="0">
                <a:solidFill>
                  <a:srgbClr val="6F76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INSTITUTION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13661448" y="5973961"/>
            <a:ext cx="3483552" cy="4438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42000"/>
              </a:lnSpc>
              <a:buNone/>
            </a:pPr>
            <a:r>
              <a:rPr lang="en-US" sz="2250" i="1" dirty="0">
                <a:solidFill>
                  <a:srgbClr val="161A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Université Bourgogne Europe</a:t>
            </a:r>
            <a:endParaRPr lang="en-US" sz="225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6762750"/>
            <a:ext cx="16002000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2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685800"/>
            <a:ext cx="16482060" cy="33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spc="264" kern="0" dirty="0">
                <a:solidFill>
                  <a:srgbClr val="6F76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/ MOTIVATION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143000" y="1112520"/>
            <a:ext cx="14716125" cy="6963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800" spc="-48" kern="0" dirty="0">
                <a:solidFill>
                  <a:srgbClr val="161A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Localization Problem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1143000" y="2075617"/>
            <a:ext cx="16002000" cy="9525"/>
          </a:xfrm>
          <a:prstGeom prst="rect">
            <a:avLst/>
          </a:prstGeom>
          <a:solidFill>
            <a:srgbClr val="D8D1C2"/>
          </a:solidFill>
          <a:ln/>
        </p:spPr>
      </p:sp>
      <p:sp>
        <p:nvSpPr>
          <p:cNvPr id="5" name="Text 3"/>
          <p:cNvSpPr/>
          <p:nvPr/>
        </p:nvSpPr>
        <p:spPr>
          <a:xfrm>
            <a:off x="1143000" y="2961442"/>
            <a:ext cx="10831068" cy="9639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700" dirty="0">
                <a:solidFill>
                  <a:srgbClr val="16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Accurate localization without GPS is a fundamental problem in mobile robotics, augmented reality, and autonomous driving.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1143000" y="4173022"/>
            <a:ext cx="10831068" cy="13364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2000"/>
              </a:lnSpc>
              <a:buNone/>
            </a:pPr>
            <a:r>
              <a:rPr lang="en-US" sz="2400" dirty="0">
                <a:solidFill>
                  <a:srgbClr val="16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 odometry estimates camera motion by tracking visual features across successive frames, providing a lightweight alternative to LiDAR or IMU-based methods.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143000" y="6290548"/>
            <a:ext cx="10831068" cy="9036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2000"/>
              </a:lnSpc>
              <a:buNone/>
            </a:pPr>
            <a:r>
              <a:rPr lang="en-US" sz="2400" dirty="0">
                <a:solidFill>
                  <a:srgbClr val="16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is also the front-end of most vision-based SLAM pipelines — every globally consistent map begins with a reliable local pose stream.</a:t>
            </a:r>
            <a:endParaRPr lang="en-US" sz="24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573000" y="3443288"/>
            <a:ext cx="4572000" cy="34290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43000" y="9460230"/>
            <a:ext cx="5284438" cy="33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spc="132" kern="0" dirty="0">
                <a:solidFill>
                  <a:srgbClr val="6F76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Monocular to Stereo VO · TUM VI</a:t>
            </a:r>
            <a:endParaRPr lang="en-US" sz="1650" dirty="0"/>
          </a:p>
        </p:txBody>
      </p:sp>
      <p:sp>
        <p:nvSpPr>
          <p:cNvPr id="10" name="Text 7"/>
          <p:cNvSpPr/>
          <p:nvPr/>
        </p:nvSpPr>
        <p:spPr>
          <a:xfrm>
            <a:off x="16147376" y="9460230"/>
            <a:ext cx="1073825" cy="33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spc="132" kern="0" dirty="0">
                <a:solidFill>
                  <a:srgbClr val="6F76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/ 23</a:t>
            </a:r>
            <a:endParaRPr lang="en-US" sz="16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2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685800"/>
            <a:ext cx="16482060" cy="33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spc="264" kern="0" dirty="0">
                <a:solidFill>
                  <a:srgbClr val="6F76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/ BACKGROUND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143000" y="1112520"/>
            <a:ext cx="14716125" cy="6963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800" spc="-48" kern="0" dirty="0">
                <a:solidFill>
                  <a:srgbClr val="161A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Visual Odometry, Briefly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1143000" y="2075617"/>
            <a:ext cx="16002000" cy="9525"/>
          </a:xfrm>
          <a:prstGeom prst="rect">
            <a:avLst/>
          </a:prstGeom>
          <a:solidFill>
            <a:srgbClr val="D8D1C2"/>
          </a:solidFill>
          <a:ln/>
        </p:spPr>
      </p:sp>
      <p:sp>
        <p:nvSpPr>
          <p:cNvPr id="5" name="Text 3"/>
          <p:cNvSpPr/>
          <p:nvPr/>
        </p:nvSpPr>
        <p:spPr>
          <a:xfrm>
            <a:off x="1143000" y="2885242"/>
            <a:ext cx="16482060" cy="9639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700" dirty="0">
                <a:solidFill>
                  <a:srgbClr val="16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 odometry observes 2D feature correspondences between successive frames, then recovers the 3D camera motion that explains them.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1143000" y="4306372"/>
            <a:ext cx="3547586" cy="1972747"/>
          </a:xfrm>
          <a:prstGeom prst="rect">
            <a:avLst/>
          </a:prstGeom>
          <a:solidFill>
            <a:srgbClr val="FFFFFF"/>
          </a:solidFill>
          <a:ln w="7620">
            <a:solidFill>
              <a:srgbClr val="D8D1C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22070" y="4485442"/>
            <a:ext cx="3285130" cy="33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spc="165" kern="0" dirty="0">
                <a:solidFill>
                  <a:srgbClr val="6F76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1322070" y="4855012"/>
            <a:ext cx="3285130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250" dirty="0">
                <a:solidFill>
                  <a:srgbClr val="161A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Detect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1322070" y="5251252"/>
            <a:ext cx="3285130" cy="5912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650" dirty="0">
                <a:solidFill>
                  <a:srgbClr val="6F76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Find repeatable corner features in each frame.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4823936" y="5092661"/>
            <a:ext cx="413266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250" dirty="0">
                <a:solidFill>
                  <a:srgbClr val="6F76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⟶</a:t>
            </a:r>
            <a:endParaRPr lang="en-US" sz="2250" dirty="0"/>
          </a:p>
        </p:txBody>
      </p:sp>
      <p:sp>
        <p:nvSpPr>
          <p:cNvPr id="11" name="Shape 9"/>
          <p:cNvSpPr/>
          <p:nvPr/>
        </p:nvSpPr>
        <p:spPr>
          <a:xfrm>
            <a:off x="5294352" y="4306372"/>
            <a:ext cx="3547705" cy="1972747"/>
          </a:xfrm>
          <a:prstGeom prst="rect">
            <a:avLst/>
          </a:prstGeom>
          <a:solidFill>
            <a:srgbClr val="FFFFFF"/>
          </a:solidFill>
          <a:ln w="7620">
            <a:solidFill>
              <a:srgbClr val="D8D1C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73422" y="4485442"/>
            <a:ext cx="3285252" cy="33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spc="165" kern="0" dirty="0">
                <a:solidFill>
                  <a:srgbClr val="6F76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5473422" y="4855012"/>
            <a:ext cx="3285252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250" dirty="0">
                <a:solidFill>
                  <a:srgbClr val="161A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Track</a:t>
            </a:r>
            <a:endParaRPr lang="en-US" sz="2250" dirty="0"/>
          </a:p>
        </p:txBody>
      </p:sp>
      <p:sp>
        <p:nvSpPr>
          <p:cNvPr id="14" name="Text 12"/>
          <p:cNvSpPr/>
          <p:nvPr/>
        </p:nvSpPr>
        <p:spPr>
          <a:xfrm>
            <a:off x="5473422" y="5251252"/>
            <a:ext cx="3285252" cy="5912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650" dirty="0">
                <a:solidFill>
                  <a:srgbClr val="6F76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Match the same features across the next frame.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8975407" y="5092661"/>
            <a:ext cx="413266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250" dirty="0">
                <a:solidFill>
                  <a:srgbClr val="6F76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⟶</a:t>
            </a:r>
            <a:endParaRPr lang="en-US" sz="2250" dirty="0"/>
          </a:p>
        </p:txBody>
      </p:sp>
      <p:sp>
        <p:nvSpPr>
          <p:cNvPr id="16" name="Shape 14"/>
          <p:cNvSpPr/>
          <p:nvPr/>
        </p:nvSpPr>
        <p:spPr>
          <a:xfrm>
            <a:off x="9445823" y="4306372"/>
            <a:ext cx="3547705" cy="1972747"/>
          </a:xfrm>
          <a:prstGeom prst="rect">
            <a:avLst/>
          </a:prstGeom>
          <a:solidFill>
            <a:srgbClr val="FFFFFF"/>
          </a:solidFill>
          <a:ln w="7620">
            <a:solidFill>
              <a:srgbClr val="D8D1C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24893" y="4485442"/>
            <a:ext cx="3285252" cy="33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spc="165" kern="0" dirty="0">
                <a:solidFill>
                  <a:srgbClr val="6F76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9624893" y="4855012"/>
            <a:ext cx="3285252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250" dirty="0">
                <a:solidFill>
                  <a:srgbClr val="161A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Estimate</a:t>
            </a:r>
            <a:endParaRPr lang="en-US" sz="2250" dirty="0"/>
          </a:p>
        </p:txBody>
      </p:sp>
      <p:sp>
        <p:nvSpPr>
          <p:cNvPr id="19" name="Text 17"/>
          <p:cNvSpPr/>
          <p:nvPr/>
        </p:nvSpPr>
        <p:spPr>
          <a:xfrm>
            <a:off x="9624893" y="5251252"/>
            <a:ext cx="3285252" cy="8678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650" dirty="0">
                <a:solidFill>
                  <a:srgbClr val="6F76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Recover the relative camera pose from those tracks.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13126879" y="5092661"/>
            <a:ext cx="413266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250" dirty="0">
                <a:solidFill>
                  <a:srgbClr val="6F76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⟶</a:t>
            </a:r>
            <a:endParaRPr lang="en-US" sz="2250" dirty="0"/>
          </a:p>
        </p:txBody>
      </p:sp>
      <p:sp>
        <p:nvSpPr>
          <p:cNvPr id="21" name="Shape 19"/>
          <p:cNvSpPr/>
          <p:nvPr/>
        </p:nvSpPr>
        <p:spPr>
          <a:xfrm>
            <a:off x="13597294" y="4306372"/>
            <a:ext cx="3547705" cy="1972747"/>
          </a:xfrm>
          <a:prstGeom prst="rect">
            <a:avLst/>
          </a:prstGeom>
          <a:solidFill>
            <a:srgbClr val="FFFFFF"/>
          </a:solidFill>
          <a:ln w="7620">
            <a:solidFill>
              <a:srgbClr val="D8D1C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3776365" y="4485442"/>
            <a:ext cx="3285252" cy="33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spc="165" kern="0" dirty="0">
                <a:solidFill>
                  <a:srgbClr val="6F76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13776365" y="4855012"/>
            <a:ext cx="3285252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250" dirty="0">
                <a:solidFill>
                  <a:srgbClr val="161A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Compose</a:t>
            </a:r>
            <a:endParaRPr lang="en-US" sz="2250" dirty="0"/>
          </a:p>
        </p:txBody>
      </p:sp>
      <p:sp>
        <p:nvSpPr>
          <p:cNvPr id="24" name="Text 22"/>
          <p:cNvSpPr/>
          <p:nvPr/>
        </p:nvSpPr>
        <p:spPr>
          <a:xfrm>
            <a:off x="13776365" y="5251252"/>
            <a:ext cx="3285252" cy="8678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650" dirty="0">
                <a:solidFill>
                  <a:srgbClr val="6F76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Integrate per-frame motion into a full trajectory.</a:t>
            </a:r>
            <a:endParaRPr lang="en-US" sz="1650" dirty="0"/>
          </a:p>
        </p:txBody>
      </p:sp>
      <p:sp>
        <p:nvSpPr>
          <p:cNvPr id="25" name="Text 23"/>
          <p:cNvSpPr/>
          <p:nvPr/>
        </p:nvSpPr>
        <p:spPr>
          <a:xfrm>
            <a:off x="1143000" y="6850618"/>
            <a:ext cx="16482060" cy="9036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2000"/>
              </a:lnSpc>
              <a:buNone/>
            </a:pPr>
            <a:r>
              <a:rPr lang="en-US" sz="2400" dirty="0">
                <a:solidFill>
                  <a:srgbClr val="16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geometry is identical for monocular and stereo systems — the difference is whether the recovered motion has a real-world scale, or only a relative one.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1143000" y="9460230"/>
            <a:ext cx="5284438" cy="33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spc="132" kern="0" dirty="0">
                <a:solidFill>
                  <a:srgbClr val="6F76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Monocular to Stereo VO · TUM VI</a:t>
            </a:r>
            <a:endParaRPr lang="en-US" sz="1650" dirty="0"/>
          </a:p>
        </p:txBody>
      </p:sp>
      <p:sp>
        <p:nvSpPr>
          <p:cNvPr id="27" name="Text 25"/>
          <p:cNvSpPr/>
          <p:nvPr/>
        </p:nvSpPr>
        <p:spPr>
          <a:xfrm>
            <a:off x="16147376" y="9460230"/>
            <a:ext cx="1073825" cy="33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spc="132" kern="0" dirty="0">
                <a:solidFill>
                  <a:srgbClr val="6F76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/ 23</a:t>
            </a:r>
            <a:endParaRPr lang="en-US" sz="16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2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685800"/>
            <a:ext cx="16482060" cy="33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spc="264" kern="0" dirty="0">
                <a:solidFill>
                  <a:srgbClr val="6F76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/ THE CORE PROBLEM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143000" y="1112520"/>
            <a:ext cx="14716125" cy="6963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800" spc="-48" kern="0" dirty="0">
                <a:solidFill>
                  <a:srgbClr val="161A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Scale Ambiguity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1143000" y="2075617"/>
            <a:ext cx="16002000" cy="9525"/>
          </a:xfrm>
          <a:prstGeom prst="rect">
            <a:avLst/>
          </a:prstGeom>
          <a:solidFill>
            <a:srgbClr val="D8D1C2"/>
          </a:solidFill>
          <a:ln/>
        </p:spPr>
      </p:sp>
      <p:sp>
        <p:nvSpPr>
          <p:cNvPr id="5" name="Text 3"/>
          <p:cNvSpPr/>
          <p:nvPr/>
        </p:nvSpPr>
        <p:spPr>
          <a:xfrm>
            <a:off x="1143000" y="4762857"/>
            <a:ext cx="8110547" cy="1965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6500" spc="-660" kern="0" dirty="0">
                <a:solidFill>
                  <a:srgbClr val="B68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~10,000</a:t>
            </a:r>
            <a:pPr algn="l" indent="0" marL="0">
              <a:lnSpc>
                <a:spcPct val="92000"/>
              </a:lnSpc>
              <a:buNone/>
            </a:pPr>
            <a:r>
              <a:rPr lang="en-US" sz="10500" spc="-660" kern="0" dirty="0">
                <a:solidFill>
                  <a:srgbClr val="B68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×</a:t>
            </a:r>
            <a:endParaRPr lang="en-US" sz="16500" dirty="0"/>
          </a:p>
        </p:txBody>
      </p:sp>
      <p:sp>
        <p:nvSpPr>
          <p:cNvPr id="6" name="Text 4"/>
          <p:cNvSpPr/>
          <p:nvPr/>
        </p:nvSpPr>
        <p:spPr>
          <a:xfrm>
            <a:off x="1143000" y="6862167"/>
            <a:ext cx="8110547" cy="33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spc="264" kern="0" dirty="0">
                <a:solidFill>
                  <a:srgbClr val="6F76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MONOCULAR SCALE ERROR · OUTDOORS5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9779318" y="2923342"/>
            <a:ext cx="7586653" cy="14268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700" dirty="0">
                <a:solidFill>
                  <a:srgbClr val="16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trajectory spanning one metre is geometrically indistinguishable from one spanning one kilometre.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9779318" y="4826437"/>
            <a:ext cx="7586653" cy="17845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2000"/>
              </a:lnSpc>
              <a:buNone/>
            </a:pPr>
            <a:r>
              <a:rPr lang="en-US" sz="2400" dirty="0">
                <a:solidFill>
                  <a:srgbClr val="16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the Outdoors5 sequence, monocular VO integrated </a:t>
            </a:r>
            <a:pPr algn="l" indent="0" marL="0">
              <a:lnSpc>
                <a:spcPct val="142000"/>
              </a:lnSpc>
              <a:buNone/>
            </a:pPr>
            <a:r>
              <a:rPr lang="en-US" sz="2400" dirty="0">
                <a:solidFill>
                  <a:srgbClr val="B14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4,565 m </a:t>
            </a:r>
            <a:pPr algn="l" indent="0" marL="0">
              <a:lnSpc>
                <a:spcPct val="142000"/>
              </a:lnSpc>
              <a:buNone/>
            </a:pPr>
            <a:r>
              <a:rPr lang="en-US" sz="2400" dirty="0">
                <a:solidFill>
                  <a:srgbClr val="16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unit-vector “path” — where the camera physically moved </a:t>
            </a:r>
            <a:pPr algn="l" indent="0" marL="0">
              <a:lnSpc>
                <a:spcPct val="142000"/>
              </a:lnSpc>
              <a:buNone/>
            </a:pPr>
            <a:r>
              <a:rPr lang="en-US" sz="2400" dirty="0">
                <a:solidFill>
                  <a:srgbClr val="161A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0.39 m </a:t>
            </a:r>
            <a:pPr algn="l" indent="0" marL="0">
              <a:lnSpc>
                <a:spcPct val="142000"/>
              </a:lnSpc>
              <a:buNone/>
            </a:pPr>
            <a:r>
              <a:rPr lang="en-US" sz="2400" dirty="0">
                <a:solidFill>
                  <a:srgbClr val="16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between matched-pair endpoints.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9779318" y="7391995"/>
            <a:ext cx="7586653" cy="13364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2000"/>
              </a:lnSpc>
              <a:buNone/>
            </a:pPr>
            <a:r>
              <a:rPr lang="en-US" sz="2400" dirty="0">
                <a:solidFill>
                  <a:srgbClr val="16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Without scale, no downstream task that requires real-world distances is possible: no path planning, no obstacle avoidance, no metric mapping.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143000" y="9460230"/>
            <a:ext cx="5284438" cy="33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spc="132" kern="0" dirty="0">
                <a:solidFill>
                  <a:srgbClr val="6F76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Monocular to Stereo VO · TUM VI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16147376" y="9460230"/>
            <a:ext cx="1073825" cy="33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spc="132" kern="0" dirty="0">
                <a:solidFill>
                  <a:srgbClr val="6F76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/ 23</a:t>
            </a:r>
            <a:endParaRPr lang="en-US" sz="16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2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685800"/>
            <a:ext cx="16482060" cy="33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spc="264" kern="0" dirty="0">
                <a:solidFill>
                  <a:srgbClr val="6F76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/ THE FIX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143000" y="1112520"/>
            <a:ext cx="14716125" cy="6963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800" spc="-48" kern="0" dirty="0">
                <a:solidFill>
                  <a:srgbClr val="161A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Stereo Solution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1143000" y="2075617"/>
            <a:ext cx="16002000" cy="9525"/>
          </a:xfrm>
          <a:prstGeom prst="rect">
            <a:avLst/>
          </a:prstGeom>
          <a:solidFill>
            <a:srgbClr val="D8D1C2"/>
          </a:solidFill>
          <a:ln/>
        </p:spPr>
      </p:sp>
      <p:sp>
        <p:nvSpPr>
          <p:cNvPr id="5" name="Text 3"/>
          <p:cNvSpPr/>
          <p:nvPr/>
        </p:nvSpPr>
        <p:spPr>
          <a:xfrm>
            <a:off x="2517219" y="3917156"/>
            <a:ext cx="714970" cy="1760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900" i="1" spc="-99" kern="0" dirty="0">
                <a:solidFill>
                  <a:srgbClr val="161A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</a:t>
            </a:r>
            <a:endParaRPr lang="en-US" sz="9900" dirty="0"/>
          </a:p>
        </p:txBody>
      </p:sp>
      <p:sp>
        <p:nvSpPr>
          <p:cNvPr id="6" name="Text 4"/>
          <p:cNvSpPr/>
          <p:nvPr/>
        </p:nvSpPr>
        <p:spPr>
          <a:xfrm>
            <a:off x="3533299" y="4069556"/>
            <a:ext cx="872252" cy="1463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900" spc="-99" kern="0" dirty="0">
                <a:solidFill>
                  <a:srgbClr val="161A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=</a:t>
            </a:r>
            <a:endParaRPr lang="en-US" sz="9900" dirty="0"/>
          </a:p>
        </p:txBody>
      </p:sp>
      <p:sp>
        <p:nvSpPr>
          <p:cNvPr id="7" name="Shape 5"/>
          <p:cNvSpPr/>
          <p:nvPr/>
        </p:nvSpPr>
        <p:spPr>
          <a:xfrm>
            <a:off x="4801910" y="4902518"/>
            <a:ext cx="2110502" cy="38100"/>
          </a:xfrm>
          <a:prstGeom prst="rect">
            <a:avLst/>
          </a:prstGeom>
          <a:solidFill>
            <a:srgbClr val="161A24"/>
          </a:solidFill>
          <a:ln/>
        </p:spPr>
      </p:sp>
      <p:sp>
        <p:nvSpPr>
          <p:cNvPr id="8" name="Text 6"/>
          <p:cNvSpPr/>
          <p:nvPr/>
        </p:nvSpPr>
        <p:spPr>
          <a:xfrm>
            <a:off x="4916210" y="3588068"/>
            <a:ext cx="1881902" cy="1295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900" i="1" spc="-99" kern="0" dirty="0">
                <a:solidFill>
                  <a:srgbClr val="161A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 · B</a:t>
            </a:r>
            <a:endParaRPr lang="en-US" sz="9900" dirty="0"/>
          </a:p>
        </p:txBody>
      </p:sp>
      <p:sp>
        <p:nvSpPr>
          <p:cNvPr id="9" name="Text 7"/>
          <p:cNvSpPr/>
          <p:nvPr/>
        </p:nvSpPr>
        <p:spPr>
          <a:xfrm>
            <a:off x="5510332" y="4997768"/>
            <a:ext cx="693539" cy="1295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900" i="1" spc="-99" kern="0" dirty="0">
                <a:solidFill>
                  <a:srgbClr val="161A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</a:t>
            </a:r>
            <a:endParaRPr lang="en-US" sz="9900" dirty="0"/>
          </a:p>
        </p:txBody>
      </p:sp>
      <p:sp>
        <p:nvSpPr>
          <p:cNvPr id="10" name="Text 8"/>
          <p:cNvSpPr/>
          <p:nvPr/>
        </p:nvSpPr>
        <p:spPr>
          <a:xfrm>
            <a:off x="1034415" y="6597968"/>
            <a:ext cx="7456170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800" spc="144" kern="0" dirty="0">
                <a:solidFill>
                  <a:srgbClr val="6F76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METRIC DEPTH FROM CALIBRATED DISPARITY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296400" y="2885242"/>
            <a:ext cx="8084058" cy="971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700" dirty="0">
                <a:solidFill>
                  <a:srgbClr val="16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calibrated stereo rig with known baseline </a:t>
            </a:r>
            <a:pPr algn="l" indent="0" marL="0">
              <a:lnSpc>
                <a:spcPct val="135000"/>
              </a:lnSpc>
              <a:buNone/>
            </a:pPr>
            <a:r>
              <a:rPr lang="en-US" sz="2700" i="1" dirty="0">
                <a:solidFill>
                  <a:srgbClr val="161A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 </a:t>
            </a:r>
            <a:pPr algn="l" indent="0" marL="0">
              <a:lnSpc>
                <a:spcPct val="135000"/>
              </a:lnSpc>
              <a:buNone/>
            </a:pPr>
            <a:r>
              <a:rPr lang="en-US" sz="2700" dirty="0">
                <a:solidFill>
                  <a:srgbClr val="16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resolves the ambiguity directly.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9296400" y="4333042"/>
            <a:ext cx="8084058" cy="9036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2000"/>
              </a:lnSpc>
              <a:buNone/>
            </a:pPr>
            <a:r>
              <a:rPr lang="en-US" sz="2400" dirty="0">
                <a:solidFill>
                  <a:srgbClr val="16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Corresponding pixels in the left and right images encode a disparity </a:t>
            </a:r>
            <a:pPr algn="l" indent="0" marL="0">
              <a:lnSpc>
                <a:spcPct val="142000"/>
              </a:lnSpc>
              <a:buNone/>
            </a:pPr>
            <a:r>
              <a:rPr lang="en-US" sz="2400" i="1" dirty="0">
                <a:solidFill>
                  <a:srgbClr val="161A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</a:t>
            </a:r>
            <a:pPr algn="l" indent="0" marL="0">
              <a:lnSpc>
                <a:spcPct val="142000"/>
              </a:lnSpc>
              <a:buNone/>
            </a:pPr>
            <a:r>
              <a:rPr lang="en-US" sz="2400" dirty="0">
                <a:solidFill>
                  <a:srgbClr val="16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and metric depth follows in closed form.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9296400" y="6017776"/>
            <a:ext cx="8084058" cy="13364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2000"/>
              </a:lnSpc>
              <a:buNone/>
            </a:pPr>
            <a:r>
              <a:rPr lang="en-US" sz="2400" dirty="0">
                <a:solidFill>
                  <a:srgbClr val="16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PnP pose increment is now anchored in real-world distance, and the trajectory is metric by construction — no scale post-correction required.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143000" y="9460230"/>
            <a:ext cx="5284438" cy="33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spc="132" kern="0" dirty="0">
                <a:solidFill>
                  <a:srgbClr val="6F76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Monocular to Stereo VO · TUM VI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16147376" y="9460230"/>
            <a:ext cx="1073825" cy="33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spc="132" kern="0" dirty="0">
                <a:solidFill>
                  <a:srgbClr val="6F76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/ 23</a:t>
            </a:r>
            <a:endParaRPr lang="en-US" sz="16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2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685800"/>
            <a:ext cx="16482060" cy="33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spc="264" kern="0" dirty="0">
                <a:solidFill>
                  <a:srgbClr val="6F76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/ DATASET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143000" y="1112520"/>
            <a:ext cx="14716125" cy="6963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800" spc="-48" kern="0" dirty="0">
                <a:solidFill>
                  <a:srgbClr val="161A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TUM VI Fisheye Benchmark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1143000" y="2075617"/>
            <a:ext cx="16002000" cy="9525"/>
          </a:xfrm>
          <a:prstGeom prst="rect">
            <a:avLst/>
          </a:prstGeom>
          <a:solidFill>
            <a:srgbClr val="D8D1C2"/>
          </a:solidFill>
          <a:ln/>
        </p:spPr>
      </p:sp>
      <p:sp>
        <p:nvSpPr>
          <p:cNvPr id="5" name="Text 3"/>
          <p:cNvSpPr/>
          <p:nvPr/>
        </p:nvSpPr>
        <p:spPr>
          <a:xfrm>
            <a:off x="1143000" y="3151942"/>
            <a:ext cx="5494020" cy="17692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2000"/>
              </a:lnSpc>
              <a:buNone/>
            </a:pPr>
            <a:r>
              <a:rPr lang="en-US" sz="2400" dirty="0">
                <a:solidFill>
                  <a:srgbClr val="16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TUM VI benchmark provides synchronised global-shutter stereo pairs, a high-rate IMU, and sub-millimetre motion-capture ground truth.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5549861"/>
            <a:ext cx="2609850" cy="3848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spc="132" kern="0" dirty="0">
                <a:solidFill>
                  <a:srgbClr val="6F76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RESOLUTION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3943350" y="5549861"/>
            <a:ext cx="2609850" cy="3848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6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512 × 512 px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1143000" y="6068020"/>
            <a:ext cx="2609850" cy="3848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spc="132" kern="0" dirty="0">
                <a:solidFill>
                  <a:srgbClr val="6F76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FRAME RATE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3943350" y="6068020"/>
            <a:ext cx="2609850" cy="3848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6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Hz stereo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1143000" y="6586181"/>
            <a:ext cx="260985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spc="132" kern="0" dirty="0">
                <a:solidFill>
                  <a:srgbClr val="6F76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FIELD OF VIEW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3943350" y="6586181"/>
            <a:ext cx="260985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6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190° (equidistant fisheye)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1143000" y="7451050"/>
            <a:ext cx="2609850" cy="3848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spc="132" kern="0" dirty="0">
                <a:solidFill>
                  <a:srgbClr val="6F76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BASELINE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3943350" y="7451050"/>
            <a:ext cx="2609850" cy="3848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6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10.11 cm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1143000" y="7969211"/>
            <a:ext cx="2609850" cy="422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spc="132" kern="0" dirty="0">
                <a:solidFill>
                  <a:srgbClr val="6F76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FOCAL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3943350" y="7969211"/>
            <a:ext cx="2609850" cy="422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6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</a:t>
            </a:r>
            <a:pPr algn="l" indent="0" marL="0">
              <a:lnSpc>
                <a:spcPct val="140000"/>
              </a:lnSpc>
              <a:buNone/>
            </a:pPr>
            <a:r>
              <a:rPr lang="en-US" sz="1625" baseline="-40000" dirty="0">
                <a:solidFill>
                  <a:srgbClr val="16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 </a:t>
            </a:r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6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f</a:t>
            </a:r>
            <a:pPr algn="l" indent="0" marL="0">
              <a:lnSpc>
                <a:spcPct val="140000"/>
              </a:lnSpc>
              <a:buNone/>
            </a:pPr>
            <a:r>
              <a:rPr lang="en-US" sz="1625" baseline="-40000" dirty="0">
                <a:solidFill>
                  <a:srgbClr val="16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 </a:t>
            </a:r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6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191.0 px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1143000" y="8524756"/>
            <a:ext cx="2609850" cy="3848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spc="132" kern="0" dirty="0">
                <a:solidFill>
                  <a:srgbClr val="6F76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IMU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3943350" y="8524756"/>
            <a:ext cx="2609850" cy="3848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6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 Hz</a:t>
            </a:r>
            <a:endParaRPr lang="en-US" sz="1950" dirty="0"/>
          </a:p>
        </p:txBody>
      </p:sp>
      <p:sp>
        <p:nvSpPr>
          <p:cNvPr id="18" name="Shape 16"/>
          <p:cNvSpPr/>
          <p:nvPr/>
        </p:nvSpPr>
        <p:spPr>
          <a:xfrm>
            <a:off x="7086600" y="3399592"/>
            <a:ext cx="1889522" cy="15240"/>
          </a:xfrm>
          <a:prstGeom prst="rect">
            <a:avLst/>
          </a:prstGeom>
          <a:solidFill>
            <a:srgbClr val="161A24"/>
          </a:solidFill>
          <a:ln/>
        </p:spPr>
      </p:sp>
      <p:sp>
        <p:nvSpPr>
          <p:cNvPr id="19" name="Text 17"/>
          <p:cNvSpPr/>
          <p:nvPr/>
        </p:nvSpPr>
        <p:spPr>
          <a:xfrm>
            <a:off x="7258050" y="2980492"/>
            <a:ext cx="1622822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spc="132" kern="0" dirty="0">
                <a:solidFill>
                  <a:srgbClr val="6F76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SEQUENCE</a:t>
            </a:r>
            <a:endParaRPr lang="en-US" sz="1650" dirty="0"/>
          </a:p>
        </p:txBody>
      </p:sp>
      <p:sp>
        <p:nvSpPr>
          <p:cNvPr id="20" name="Shape 18"/>
          <p:cNvSpPr/>
          <p:nvPr/>
        </p:nvSpPr>
        <p:spPr>
          <a:xfrm>
            <a:off x="8976122" y="3399592"/>
            <a:ext cx="1556028" cy="15240"/>
          </a:xfrm>
          <a:prstGeom prst="rect">
            <a:avLst/>
          </a:prstGeom>
          <a:solidFill>
            <a:srgbClr val="161A24"/>
          </a:solidFill>
          <a:ln/>
        </p:spPr>
      </p:sp>
      <p:sp>
        <p:nvSpPr>
          <p:cNvPr id="21" name="Text 19"/>
          <p:cNvSpPr/>
          <p:nvPr/>
        </p:nvSpPr>
        <p:spPr>
          <a:xfrm>
            <a:off x="9147572" y="2980492"/>
            <a:ext cx="1289328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spc="132" kern="0" dirty="0">
                <a:solidFill>
                  <a:srgbClr val="6F76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FRAMES</a:t>
            </a:r>
            <a:endParaRPr lang="en-US" sz="1650" dirty="0"/>
          </a:p>
        </p:txBody>
      </p:sp>
      <p:sp>
        <p:nvSpPr>
          <p:cNvPr id="22" name="Shape 20"/>
          <p:cNvSpPr/>
          <p:nvPr/>
        </p:nvSpPr>
        <p:spPr>
          <a:xfrm>
            <a:off x="10532150" y="3399592"/>
            <a:ext cx="2407563" cy="15240"/>
          </a:xfrm>
          <a:prstGeom prst="rect">
            <a:avLst/>
          </a:prstGeom>
          <a:solidFill>
            <a:srgbClr val="161A24"/>
          </a:solidFill>
          <a:ln/>
        </p:spPr>
      </p:sp>
      <p:sp>
        <p:nvSpPr>
          <p:cNvPr id="23" name="Text 21"/>
          <p:cNvSpPr/>
          <p:nvPr/>
        </p:nvSpPr>
        <p:spPr>
          <a:xfrm>
            <a:off x="10703600" y="2980492"/>
            <a:ext cx="2140863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spc="132" kern="0" dirty="0">
                <a:solidFill>
                  <a:srgbClr val="6F76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GT SEGMENTS</a:t>
            </a:r>
            <a:endParaRPr lang="en-US" sz="1650" dirty="0"/>
          </a:p>
        </p:txBody>
      </p:sp>
      <p:sp>
        <p:nvSpPr>
          <p:cNvPr id="24" name="Shape 22"/>
          <p:cNvSpPr/>
          <p:nvPr/>
        </p:nvSpPr>
        <p:spPr>
          <a:xfrm>
            <a:off x="12939713" y="3399592"/>
            <a:ext cx="1743194" cy="15240"/>
          </a:xfrm>
          <a:prstGeom prst="rect">
            <a:avLst/>
          </a:prstGeom>
          <a:solidFill>
            <a:srgbClr val="161A24"/>
          </a:solidFill>
          <a:ln/>
        </p:spPr>
      </p:sp>
      <p:sp>
        <p:nvSpPr>
          <p:cNvPr id="25" name="Text 23"/>
          <p:cNvSpPr/>
          <p:nvPr/>
        </p:nvSpPr>
        <p:spPr>
          <a:xfrm>
            <a:off x="13111163" y="2980492"/>
            <a:ext cx="1476494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spc="132" kern="0" dirty="0">
                <a:solidFill>
                  <a:srgbClr val="6F76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GT GAP</a:t>
            </a:r>
            <a:endParaRPr lang="en-US" sz="1650" dirty="0"/>
          </a:p>
        </p:txBody>
      </p:sp>
      <p:sp>
        <p:nvSpPr>
          <p:cNvPr id="26" name="Shape 24"/>
          <p:cNvSpPr/>
          <p:nvPr/>
        </p:nvSpPr>
        <p:spPr>
          <a:xfrm>
            <a:off x="14682907" y="3399592"/>
            <a:ext cx="2462094" cy="15240"/>
          </a:xfrm>
          <a:prstGeom prst="rect">
            <a:avLst/>
          </a:prstGeom>
          <a:solidFill>
            <a:srgbClr val="161A24"/>
          </a:solidFill>
          <a:ln/>
        </p:spPr>
      </p:sp>
      <p:sp>
        <p:nvSpPr>
          <p:cNvPr id="27" name="Text 25"/>
          <p:cNvSpPr/>
          <p:nvPr/>
        </p:nvSpPr>
        <p:spPr>
          <a:xfrm>
            <a:off x="14854357" y="2980492"/>
            <a:ext cx="2195394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spc="132" kern="0" dirty="0">
                <a:solidFill>
                  <a:srgbClr val="6F76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ENVIRONMENT</a:t>
            </a:r>
            <a:endParaRPr lang="en-US" sz="1650" dirty="0"/>
          </a:p>
        </p:txBody>
      </p:sp>
      <p:sp>
        <p:nvSpPr>
          <p:cNvPr id="28" name="Shape 26"/>
          <p:cNvSpPr/>
          <p:nvPr/>
        </p:nvSpPr>
        <p:spPr>
          <a:xfrm>
            <a:off x="7086600" y="4047292"/>
            <a:ext cx="10058400" cy="9525"/>
          </a:xfrm>
          <a:prstGeom prst="rect">
            <a:avLst/>
          </a:prstGeom>
          <a:solidFill>
            <a:srgbClr val="D8D1C2"/>
          </a:solidFill>
          <a:ln/>
        </p:spPr>
      </p:sp>
      <p:sp>
        <p:nvSpPr>
          <p:cNvPr id="29" name="Text 27"/>
          <p:cNvSpPr/>
          <p:nvPr/>
        </p:nvSpPr>
        <p:spPr>
          <a:xfrm>
            <a:off x="7258050" y="3548182"/>
            <a:ext cx="1622822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6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Room2</a:t>
            </a:r>
            <a:endParaRPr lang="en-US" sz="1950" dirty="0"/>
          </a:p>
        </p:txBody>
      </p:sp>
      <p:sp>
        <p:nvSpPr>
          <p:cNvPr id="30" name="Text 28"/>
          <p:cNvSpPr/>
          <p:nvPr/>
        </p:nvSpPr>
        <p:spPr>
          <a:xfrm>
            <a:off x="9147572" y="3548182"/>
            <a:ext cx="1289328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61A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2,882</a:t>
            </a:r>
            <a:endParaRPr lang="en-US" sz="1950" dirty="0"/>
          </a:p>
        </p:txBody>
      </p:sp>
      <p:sp>
        <p:nvSpPr>
          <p:cNvPr id="31" name="Text 29"/>
          <p:cNvSpPr/>
          <p:nvPr/>
        </p:nvSpPr>
        <p:spPr>
          <a:xfrm>
            <a:off x="10703600" y="3548182"/>
            <a:ext cx="2140863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6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(full)</a:t>
            </a:r>
            <a:endParaRPr lang="en-US" sz="1950" dirty="0"/>
          </a:p>
        </p:txBody>
      </p:sp>
      <p:sp>
        <p:nvSpPr>
          <p:cNvPr id="32" name="Text 30"/>
          <p:cNvSpPr/>
          <p:nvPr/>
        </p:nvSpPr>
        <p:spPr>
          <a:xfrm>
            <a:off x="13111163" y="3548182"/>
            <a:ext cx="1476494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61A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none</a:t>
            </a:r>
            <a:endParaRPr lang="en-US" sz="1950" dirty="0"/>
          </a:p>
        </p:txBody>
      </p:sp>
      <p:sp>
        <p:nvSpPr>
          <p:cNvPr id="33" name="Text 31"/>
          <p:cNvSpPr/>
          <p:nvPr/>
        </p:nvSpPr>
        <p:spPr>
          <a:xfrm>
            <a:off x="14854357" y="3548182"/>
            <a:ext cx="2195394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6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Indoor room</a:t>
            </a:r>
            <a:endParaRPr lang="en-US" sz="1950" dirty="0"/>
          </a:p>
        </p:txBody>
      </p:sp>
      <p:sp>
        <p:nvSpPr>
          <p:cNvPr id="34" name="Shape 32"/>
          <p:cNvSpPr/>
          <p:nvPr/>
        </p:nvSpPr>
        <p:spPr>
          <a:xfrm>
            <a:off x="7086600" y="4683562"/>
            <a:ext cx="10058400" cy="9525"/>
          </a:xfrm>
          <a:prstGeom prst="rect">
            <a:avLst/>
          </a:prstGeom>
          <a:solidFill>
            <a:srgbClr val="D8D1C2"/>
          </a:solidFill>
          <a:ln/>
        </p:spPr>
      </p:sp>
      <p:sp>
        <p:nvSpPr>
          <p:cNvPr id="35" name="Text 33"/>
          <p:cNvSpPr/>
          <p:nvPr/>
        </p:nvSpPr>
        <p:spPr>
          <a:xfrm>
            <a:off x="7258050" y="4188262"/>
            <a:ext cx="1622822" cy="4076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6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Corridor3</a:t>
            </a:r>
            <a:endParaRPr lang="en-US" sz="1950" dirty="0"/>
          </a:p>
        </p:txBody>
      </p:sp>
      <p:sp>
        <p:nvSpPr>
          <p:cNvPr id="36" name="Text 34"/>
          <p:cNvSpPr/>
          <p:nvPr/>
        </p:nvSpPr>
        <p:spPr>
          <a:xfrm>
            <a:off x="9147572" y="4188262"/>
            <a:ext cx="1289328" cy="4076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61A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5,802</a:t>
            </a:r>
            <a:endParaRPr lang="en-US" sz="1950" dirty="0"/>
          </a:p>
        </p:txBody>
      </p:sp>
      <p:sp>
        <p:nvSpPr>
          <p:cNvPr id="37" name="Text 35"/>
          <p:cNvSpPr/>
          <p:nvPr/>
        </p:nvSpPr>
        <p:spPr>
          <a:xfrm>
            <a:off x="10703600" y="4188262"/>
            <a:ext cx="2140863" cy="4076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6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(start + end)</a:t>
            </a:r>
            <a:endParaRPr lang="en-US" sz="1950" dirty="0"/>
          </a:p>
        </p:txBody>
      </p:sp>
      <p:sp>
        <p:nvSpPr>
          <p:cNvPr id="38" name="Text 36"/>
          <p:cNvSpPr/>
          <p:nvPr/>
        </p:nvSpPr>
        <p:spPr>
          <a:xfrm>
            <a:off x="13111163" y="4188262"/>
            <a:ext cx="1476494" cy="4076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61A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≈ 230 s</a:t>
            </a:r>
            <a:endParaRPr lang="en-US" sz="1950" dirty="0"/>
          </a:p>
        </p:txBody>
      </p:sp>
      <p:sp>
        <p:nvSpPr>
          <p:cNvPr id="39" name="Text 37"/>
          <p:cNvSpPr/>
          <p:nvPr/>
        </p:nvSpPr>
        <p:spPr>
          <a:xfrm>
            <a:off x="14854357" y="4188262"/>
            <a:ext cx="2195394" cy="4076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6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Indoor corridor</a:t>
            </a:r>
            <a:endParaRPr lang="en-US" sz="1950" dirty="0"/>
          </a:p>
        </p:txBody>
      </p:sp>
      <p:sp>
        <p:nvSpPr>
          <p:cNvPr id="40" name="Shape 38"/>
          <p:cNvSpPr/>
          <p:nvPr/>
        </p:nvSpPr>
        <p:spPr>
          <a:xfrm>
            <a:off x="7086600" y="5323642"/>
            <a:ext cx="10058400" cy="9525"/>
          </a:xfrm>
          <a:prstGeom prst="rect">
            <a:avLst/>
          </a:prstGeom>
          <a:solidFill>
            <a:srgbClr val="D8D1C2"/>
          </a:solidFill>
          <a:ln/>
        </p:spPr>
      </p:sp>
      <p:sp>
        <p:nvSpPr>
          <p:cNvPr id="41" name="Text 39"/>
          <p:cNvSpPr/>
          <p:nvPr/>
        </p:nvSpPr>
        <p:spPr>
          <a:xfrm>
            <a:off x="7258050" y="4824532"/>
            <a:ext cx="1622822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6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Outdoors5</a:t>
            </a:r>
            <a:endParaRPr lang="en-US" sz="1950" dirty="0"/>
          </a:p>
        </p:txBody>
      </p:sp>
      <p:sp>
        <p:nvSpPr>
          <p:cNvPr id="42" name="Text 40"/>
          <p:cNvSpPr/>
          <p:nvPr/>
        </p:nvSpPr>
        <p:spPr>
          <a:xfrm>
            <a:off x="9147572" y="4824532"/>
            <a:ext cx="1289328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61A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17,747</a:t>
            </a:r>
            <a:endParaRPr lang="en-US" sz="1950" dirty="0"/>
          </a:p>
        </p:txBody>
      </p:sp>
      <p:sp>
        <p:nvSpPr>
          <p:cNvPr id="43" name="Text 41"/>
          <p:cNvSpPr/>
          <p:nvPr/>
        </p:nvSpPr>
        <p:spPr>
          <a:xfrm>
            <a:off x="10703600" y="4824532"/>
            <a:ext cx="2140863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6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(start + end)</a:t>
            </a:r>
            <a:endParaRPr lang="en-US" sz="1950" dirty="0"/>
          </a:p>
        </p:txBody>
      </p:sp>
      <p:sp>
        <p:nvSpPr>
          <p:cNvPr id="44" name="Text 42"/>
          <p:cNvSpPr/>
          <p:nvPr/>
        </p:nvSpPr>
        <p:spPr>
          <a:xfrm>
            <a:off x="13111163" y="4824532"/>
            <a:ext cx="1476494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61A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≈ 749 s</a:t>
            </a:r>
            <a:endParaRPr lang="en-US" sz="1950" dirty="0"/>
          </a:p>
        </p:txBody>
      </p:sp>
      <p:sp>
        <p:nvSpPr>
          <p:cNvPr id="45" name="Text 43"/>
          <p:cNvSpPr/>
          <p:nvPr/>
        </p:nvSpPr>
        <p:spPr>
          <a:xfrm>
            <a:off x="14854357" y="4824532"/>
            <a:ext cx="2195394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6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Outdoor loop</a:t>
            </a:r>
            <a:endParaRPr lang="en-US" sz="1950" dirty="0"/>
          </a:p>
        </p:txBody>
      </p:sp>
      <p:sp>
        <p:nvSpPr>
          <p:cNvPr id="46" name="Shape 44"/>
          <p:cNvSpPr/>
          <p:nvPr/>
        </p:nvSpPr>
        <p:spPr>
          <a:xfrm>
            <a:off x="7086600" y="5331262"/>
            <a:ext cx="10058400" cy="15240"/>
          </a:xfrm>
          <a:prstGeom prst="rect">
            <a:avLst/>
          </a:prstGeom>
          <a:solidFill>
            <a:srgbClr val="161A24"/>
          </a:solidFill>
          <a:ln/>
        </p:spPr>
      </p:sp>
      <p:sp>
        <p:nvSpPr>
          <p:cNvPr id="47" name="Text 45"/>
          <p:cNvSpPr/>
          <p:nvPr/>
        </p:nvSpPr>
        <p:spPr>
          <a:xfrm>
            <a:off x="7258050" y="5464612"/>
            <a:ext cx="1622822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6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</a:t>
            </a:r>
            <a:endParaRPr lang="en-US" sz="1950" dirty="0"/>
          </a:p>
        </p:txBody>
      </p:sp>
      <p:sp>
        <p:nvSpPr>
          <p:cNvPr id="48" name="Text 46"/>
          <p:cNvSpPr/>
          <p:nvPr/>
        </p:nvSpPr>
        <p:spPr>
          <a:xfrm>
            <a:off x="9147572" y="5464612"/>
            <a:ext cx="1289328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61A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26,431</a:t>
            </a:r>
            <a:endParaRPr lang="en-US" sz="1950" dirty="0"/>
          </a:p>
        </p:txBody>
      </p:sp>
      <p:sp>
        <p:nvSpPr>
          <p:cNvPr id="49" name="Text 47"/>
          <p:cNvSpPr/>
          <p:nvPr/>
        </p:nvSpPr>
        <p:spPr>
          <a:xfrm>
            <a:off x="10703600" y="5464612"/>
            <a:ext cx="6468336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6F76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sequences, indoor → outdoor difficulty</a:t>
            </a:r>
            <a:endParaRPr lang="en-US" sz="1950" dirty="0"/>
          </a:p>
        </p:txBody>
      </p:sp>
      <p:sp>
        <p:nvSpPr>
          <p:cNvPr id="50" name="Text 48"/>
          <p:cNvSpPr/>
          <p:nvPr/>
        </p:nvSpPr>
        <p:spPr>
          <a:xfrm>
            <a:off x="7086600" y="6226612"/>
            <a:ext cx="10360152" cy="746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6F76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GT gaps on Corridor3 and Outdoors5 are not stated in the TUM VI documentation but are clearly visible in the raw </a:t>
            </a:r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6F76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mocap0/data.csv</a:t>
            </a:r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6F76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We will return to them as Pitfall II.</a:t>
            </a:r>
            <a:endParaRPr lang="en-US" sz="1950" dirty="0"/>
          </a:p>
        </p:txBody>
      </p:sp>
      <p:sp>
        <p:nvSpPr>
          <p:cNvPr id="51" name="Text 49"/>
          <p:cNvSpPr/>
          <p:nvPr/>
        </p:nvSpPr>
        <p:spPr>
          <a:xfrm>
            <a:off x="1143000" y="9460230"/>
            <a:ext cx="5284438" cy="33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spc="132" kern="0" dirty="0">
                <a:solidFill>
                  <a:srgbClr val="6F76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Monocular to Stereo VO · TUM VI</a:t>
            </a:r>
            <a:endParaRPr lang="en-US" sz="1650" dirty="0"/>
          </a:p>
        </p:txBody>
      </p:sp>
      <p:sp>
        <p:nvSpPr>
          <p:cNvPr id="52" name="Text 50"/>
          <p:cNvSpPr/>
          <p:nvPr/>
        </p:nvSpPr>
        <p:spPr>
          <a:xfrm>
            <a:off x="16147376" y="9460230"/>
            <a:ext cx="1073825" cy="33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spc="132" kern="0" dirty="0">
                <a:solidFill>
                  <a:srgbClr val="6F76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/ 23</a:t>
            </a:r>
            <a:endParaRPr lang="en-US" sz="16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2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685800"/>
            <a:ext cx="16482060" cy="33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spc="264" kern="0" dirty="0">
                <a:solidFill>
                  <a:srgbClr val="6F76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/ WHAT WE BUILT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143000" y="1112520"/>
            <a:ext cx="14716125" cy="6963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800" spc="-48" kern="0" dirty="0">
                <a:solidFill>
                  <a:srgbClr val="161A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Contributions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1143000" y="2075617"/>
            <a:ext cx="16002000" cy="9525"/>
          </a:xfrm>
          <a:prstGeom prst="rect">
            <a:avLst/>
          </a:prstGeom>
          <a:solidFill>
            <a:srgbClr val="D8D1C2"/>
          </a:solidFill>
          <a:ln/>
        </p:spPr>
      </p:sp>
      <p:sp>
        <p:nvSpPr>
          <p:cNvPr id="5" name="Text 3"/>
          <p:cNvSpPr/>
          <p:nvPr/>
        </p:nvSpPr>
        <p:spPr>
          <a:xfrm>
            <a:off x="1485900" y="2885242"/>
            <a:ext cx="16139160" cy="9182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550" i="1" dirty="0">
                <a:solidFill>
                  <a:srgbClr val="161A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monocular VO baseline </a:t>
            </a:r>
            <a:pPr algn="l" indent="0" marL="0">
              <a:lnSpc>
                <a:spcPct val="140000"/>
              </a:lnSpc>
              <a:buNone/>
            </a:pPr>
            <a:r>
              <a:rPr lang="en-US" sz="2400" dirty="0">
                <a:solidFill>
                  <a:srgbClr val="16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FAST features, pyramidal Lucas–Kanade tracking, and 5-point essential-matrix recovery, validated on three TUM VI sequences.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485900" y="4013002"/>
            <a:ext cx="16139160" cy="9182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550" i="1" dirty="0">
                <a:solidFill>
                  <a:srgbClr val="161A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metric stereo VO pipeline </a:t>
            </a:r>
            <a:pPr algn="l" indent="0" marL="0">
              <a:lnSpc>
                <a:spcPct val="140000"/>
              </a:lnSpc>
              <a:buNone/>
            </a:pPr>
            <a:r>
              <a:rPr lang="en-US" sz="2400" dirty="0">
                <a:solidFill>
                  <a:srgbClr val="16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fisheye-aware rectification, StereoSGBM disparity, forward–backward optical-flow consistency, 3D–2D PnP-RANSAC, motion-only bundle adjustment, and a reprojection-error confidence gate.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485900" y="5140762"/>
            <a:ext cx="16139160" cy="9182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550" i="1" dirty="0">
                <a:solidFill>
                  <a:srgbClr val="161A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 honest failure-handling protocol </a:t>
            </a:r>
            <a:pPr algn="l" indent="0" marL="0">
              <a:lnSpc>
                <a:spcPct val="140000"/>
              </a:lnSpc>
              <a:buNone/>
            </a:pPr>
            <a:r>
              <a:rPr lang="en-US" sz="2400" dirty="0">
                <a:solidFill>
                  <a:srgbClr val="16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per-frame status logging that separates hard skips from soft flags, so no tracking failure is hidden.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485900" y="6268521"/>
            <a:ext cx="16139160" cy="9182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550" i="1" dirty="0">
                <a:solidFill>
                  <a:srgbClr val="161A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TUM VI evaluation pitfalls </a:t>
            </a:r>
            <a:pPr algn="l" indent="0" marL="0">
              <a:lnSpc>
                <a:spcPct val="140000"/>
              </a:lnSpc>
              <a:buNone/>
            </a:pPr>
            <a:r>
              <a:rPr lang="en-US" sz="2400" dirty="0">
                <a:solidFill>
                  <a:srgbClr val="16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identified and corrected — the camera–IMU frame mismatch, and the multi-minute mocap blackouts on Corridor3 and Outdoors5.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485900" y="7396282"/>
            <a:ext cx="16139160" cy="9182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550" i="1" dirty="0">
                <a:solidFill>
                  <a:srgbClr val="161A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Rigorous, gap-aware evaluation </a:t>
            </a:r>
            <a:pPr algn="l" indent="0" marL="0">
              <a:lnSpc>
                <a:spcPct val="140000"/>
              </a:lnSpc>
              <a:buNone/>
            </a:pPr>
            <a:r>
              <a:rPr lang="en-US" sz="2400" dirty="0">
                <a:solidFill>
                  <a:srgbClr val="16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26,431 frames — per-segment ATE of 0.02–0.29 m, per-segment translational RPE of 0.018–0.040 m, with no deep learning and no loop closure.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143000" y="9460230"/>
            <a:ext cx="5284438" cy="33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spc="132" kern="0" dirty="0">
                <a:solidFill>
                  <a:srgbClr val="6F76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Monocular to Stereo VO · TUM VI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16147376" y="9460230"/>
            <a:ext cx="1073825" cy="33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spc="132" kern="0" dirty="0">
                <a:solidFill>
                  <a:srgbClr val="6F76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 / 23</a:t>
            </a:r>
            <a:endParaRPr lang="en-US" sz="16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2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685800"/>
            <a:ext cx="16482060" cy="33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spc="264" kern="0" dirty="0">
                <a:solidFill>
                  <a:srgbClr val="6F76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 / METHOD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143000" y="1112520"/>
            <a:ext cx="14716125" cy="6963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800" spc="-48" kern="0" dirty="0">
                <a:solidFill>
                  <a:srgbClr val="161A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Monocular Pipeline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1143000" y="2075617"/>
            <a:ext cx="16002000" cy="9525"/>
          </a:xfrm>
          <a:prstGeom prst="rect">
            <a:avLst/>
          </a:prstGeom>
          <a:solidFill>
            <a:srgbClr val="D8D1C2"/>
          </a:solidFill>
          <a:ln/>
        </p:spPr>
      </p:sp>
      <p:sp>
        <p:nvSpPr>
          <p:cNvPr id="5" name="Text 3"/>
          <p:cNvSpPr/>
          <p:nvPr/>
        </p:nvSpPr>
        <p:spPr>
          <a:xfrm>
            <a:off x="1143000" y="2809042"/>
            <a:ext cx="16482060" cy="5010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700" dirty="0">
                <a:solidFill>
                  <a:srgbClr val="16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Classical geometry-only monocular VO — no learned components, no IMU.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1143000" y="3614857"/>
            <a:ext cx="2555796" cy="2292787"/>
          </a:xfrm>
          <a:prstGeom prst="rect">
            <a:avLst/>
          </a:prstGeom>
          <a:solidFill>
            <a:srgbClr val="FFFFFF"/>
          </a:solidFill>
          <a:ln w="7620">
            <a:solidFill>
              <a:srgbClr val="D8D1C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22070" y="3793927"/>
            <a:ext cx="2273856" cy="33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spc="165" kern="0" dirty="0">
                <a:solidFill>
                  <a:srgbClr val="6F76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1322070" y="4163497"/>
            <a:ext cx="2273856" cy="678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250" dirty="0">
                <a:solidFill>
                  <a:srgbClr val="161A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Histogram equalize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1322070" y="4879777"/>
            <a:ext cx="2273856" cy="8678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650" dirty="0">
                <a:solidFill>
                  <a:srgbClr val="6F76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TUM VI fisheye is dark (µ ≈ 36/255).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>
            <a:off x="3832146" y="3614857"/>
            <a:ext cx="2555915" cy="2292787"/>
          </a:xfrm>
          <a:prstGeom prst="rect">
            <a:avLst/>
          </a:prstGeom>
          <a:solidFill>
            <a:srgbClr val="FFFFFF"/>
          </a:solidFill>
          <a:ln w="7620">
            <a:solidFill>
              <a:srgbClr val="D8D1C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011216" y="3793927"/>
            <a:ext cx="2273975" cy="33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spc="165" kern="0" dirty="0">
                <a:solidFill>
                  <a:srgbClr val="6F76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4011216" y="4163497"/>
            <a:ext cx="2273975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250" dirty="0">
                <a:solidFill>
                  <a:srgbClr val="161A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FAST features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4011216" y="4559737"/>
            <a:ext cx="2273975" cy="8678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650" dirty="0">
                <a:solidFill>
                  <a:srgbClr val="6F76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Threshold 8, NMS, target 2,000 / frame.</a:t>
            </a:r>
            <a:endParaRPr lang="en-US" sz="1650" dirty="0"/>
          </a:p>
        </p:txBody>
      </p:sp>
      <p:sp>
        <p:nvSpPr>
          <p:cNvPr id="14" name="Shape 12"/>
          <p:cNvSpPr/>
          <p:nvPr/>
        </p:nvSpPr>
        <p:spPr>
          <a:xfrm>
            <a:off x="6521411" y="3614857"/>
            <a:ext cx="2555796" cy="2292787"/>
          </a:xfrm>
          <a:prstGeom prst="rect">
            <a:avLst/>
          </a:prstGeom>
          <a:solidFill>
            <a:srgbClr val="FFFFFF"/>
          </a:solidFill>
          <a:ln w="7620">
            <a:solidFill>
              <a:srgbClr val="D8D1C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00481" y="3793927"/>
            <a:ext cx="2273856" cy="33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spc="165" kern="0" dirty="0">
                <a:solidFill>
                  <a:srgbClr val="6F76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6700481" y="4163497"/>
            <a:ext cx="2273856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250" dirty="0">
                <a:solidFill>
                  <a:srgbClr val="161A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Lucas–Kanade</a:t>
            </a:r>
            <a:endParaRPr lang="en-US" sz="2250" dirty="0"/>
          </a:p>
        </p:txBody>
      </p:sp>
      <p:sp>
        <p:nvSpPr>
          <p:cNvPr id="17" name="Text 15"/>
          <p:cNvSpPr/>
          <p:nvPr/>
        </p:nvSpPr>
        <p:spPr>
          <a:xfrm>
            <a:off x="6700481" y="4559737"/>
            <a:ext cx="2273856" cy="5912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650" dirty="0">
                <a:solidFill>
                  <a:srgbClr val="6F76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 × 21 window, 3 pyramid levels.</a:t>
            </a:r>
            <a:endParaRPr lang="en-US" sz="1650" dirty="0"/>
          </a:p>
        </p:txBody>
      </p:sp>
      <p:sp>
        <p:nvSpPr>
          <p:cNvPr id="18" name="Shape 16"/>
          <p:cNvSpPr/>
          <p:nvPr/>
        </p:nvSpPr>
        <p:spPr>
          <a:xfrm>
            <a:off x="9210556" y="3614857"/>
            <a:ext cx="2555915" cy="2292787"/>
          </a:xfrm>
          <a:prstGeom prst="rect">
            <a:avLst/>
          </a:prstGeom>
          <a:solidFill>
            <a:srgbClr val="FFFFFF"/>
          </a:solidFill>
          <a:ln w="7620">
            <a:solidFill>
              <a:srgbClr val="D8D1C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389626" y="3793927"/>
            <a:ext cx="2273975" cy="33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spc="165" kern="0" dirty="0">
                <a:solidFill>
                  <a:srgbClr val="6F76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9389626" y="4163497"/>
            <a:ext cx="2273975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250" dirty="0">
                <a:solidFill>
                  <a:srgbClr val="161A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Undistort points</a:t>
            </a:r>
            <a:endParaRPr lang="en-US" sz="2250" dirty="0"/>
          </a:p>
        </p:txBody>
      </p:sp>
      <p:sp>
        <p:nvSpPr>
          <p:cNvPr id="21" name="Text 19"/>
          <p:cNvSpPr/>
          <p:nvPr/>
        </p:nvSpPr>
        <p:spPr>
          <a:xfrm>
            <a:off x="9389626" y="4559737"/>
            <a:ext cx="2273975" cy="8678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650" dirty="0">
                <a:solidFill>
                  <a:srgbClr val="6F76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Fisheye model, per-point (not per-image).</a:t>
            </a:r>
            <a:endParaRPr lang="en-US" sz="1650" dirty="0"/>
          </a:p>
        </p:txBody>
      </p:sp>
      <p:sp>
        <p:nvSpPr>
          <p:cNvPr id="22" name="Shape 20"/>
          <p:cNvSpPr/>
          <p:nvPr/>
        </p:nvSpPr>
        <p:spPr>
          <a:xfrm>
            <a:off x="11899821" y="3614857"/>
            <a:ext cx="2555915" cy="2292787"/>
          </a:xfrm>
          <a:prstGeom prst="rect">
            <a:avLst/>
          </a:prstGeom>
          <a:solidFill>
            <a:srgbClr val="FFFFFF"/>
          </a:solidFill>
          <a:ln w="7620">
            <a:solidFill>
              <a:srgbClr val="D8D1C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2078891" y="3793927"/>
            <a:ext cx="2273975" cy="33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spc="165" kern="0" dirty="0">
                <a:solidFill>
                  <a:srgbClr val="6F76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650" dirty="0"/>
          </a:p>
        </p:txBody>
      </p:sp>
      <p:sp>
        <p:nvSpPr>
          <p:cNvPr id="24" name="Text 22"/>
          <p:cNvSpPr/>
          <p:nvPr/>
        </p:nvSpPr>
        <p:spPr>
          <a:xfrm>
            <a:off x="12078891" y="4163497"/>
            <a:ext cx="2273975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250" dirty="0">
                <a:solidFill>
                  <a:srgbClr val="161A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5-point essential</a:t>
            </a:r>
            <a:endParaRPr lang="en-US" sz="2250" dirty="0"/>
          </a:p>
        </p:txBody>
      </p:sp>
      <p:sp>
        <p:nvSpPr>
          <p:cNvPr id="25" name="Text 23"/>
          <p:cNvSpPr/>
          <p:nvPr/>
        </p:nvSpPr>
        <p:spPr>
          <a:xfrm>
            <a:off x="12078891" y="4559737"/>
            <a:ext cx="2273975" cy="8678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650" dirty="0">
                <a:solidFill>
                  <a:srgbClr val="6F76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RANSAC, 1.0 px threshold; cheirality.</a:t>
            </a:r>
            <a:endParaRPr lang="en-US" sz="1650" dirty="0"/>
          </a:p>
        </p:txBody>
      </p:sp>
      <p:sp>
        <p:nvSpPr>
          <p:cNvPr id="26" name="Shape 24"/>
          <p:cNvSpPr/>
          <p:nvPr/>
        </p:nvSpPr>
        <p:spPr>
          <a:xfrm>
            <a:off x="14589085" y="3614857"/>
            <a:ext cx="2555915" cy="2292787"/>
          </a:xfrm>
          <a:prstGeom prst="rect">
            <a:avLst/>
          </a:prstGeom>
          <a:solidFill>
            <a:srgbClr val="FFFFFF"/>
          </a:solidFill>
          <a:ln w="7620">
            <a:solidFill>
              <a:srgbClr val="D8D1C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4768156" y="3793927"/>
            <a:ext cx="2273975" cy="33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spc="165" kern="0" dirty="0">
                <a:solidFill>
                  <a:srgbClr val="6F76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1650" dirty="0"/>
          </a:p>
        </p:txBody>
      </p:sp>
      <p:sp>
        <p:nvSpPr>
          <p:cNvPr id="28" name="Text 26"/>
          <p:cNvSpPr/>
          <p:nvPr/>
        </p:nvSpPr>
        <p:spPr>
          <a:xfrm>
            <a:off x="14768156" y="4163497"/>
            <a:ext cx="2273975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250" dirty="0">
                <a:solidFill>
                  <a:srgbClr val="161A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Compose pose</a:t>
            </a:r>
            <a:endParaRPr lang="en-US" sz="2250" dirty="0"/>
          </a:p>
        </p:txBody>
      </p:sp>
      <p:sp>
        <p:nvSpPr>
          <p:cNvPr id="29" name="Text 27"/>
          <p:cNvSpPr/>
          <p:nvPr/>
        </p:nvSpPr>
        <p:spPr>
          <a:xfrm>
            <a:off x="14768156" y="4559737"/>
            <a:ext cx="2273975" cy="8678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650" dirty="0">
                <a:solidFill>
                  <a:srgbClr val="6F76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Integrate (R, t) into SE(3) trajectory.</a:t>
            </a:r>
            <a:endParaRPr lang="en-US" sz="1650" dirty="0"/>
          </a:p>
        </p:txBody>
      </p:sp>
      <p:sp>
        <p:nvSpPr>
          <p:cNvPr id="30" name="Text 28"/>
          <p:cNvSpPr/>
          <p:nvPr/>
        </p:nvSpPr>
        <p:spPr>
          <a:xfrm>
            <a:off x="1143000" y="6326743"/>
            <a:ext cx="16482060" cy="12044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2000"/>
              </a:lnSpc>
              <a:buNone/>
            </a:pPr>
            <a:r>
              <a:rPr lang="en-US" sz="2100" dirty="0">
                <a:solidFill>
                  <a:srgbClr val="16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 is chosen over Shi–Tomasi because TUM VI fisheye images are very dark — FAST returns more than 2,000 keypoints per frame; Shi–Tomasi returns fewer than 200. The essential matrix defines translation only up to a unit norm: we fix </a:t>
            </a:r>
            <a:pPr algn="l" indent="0" marL="0">
              <a:lnSpc>
                <a:spcPct val="142000"/>
              </a:lnSpc>
              <a:buNone/>
            </a:pPr>
            <a:r>
              <a:rPr lang="en-US" sz="2100" dirty="0">
                <a:solidFill>
                  <a:srgbClr val="161A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‖t‖ = 1 </a:t>
            </a:r>
            <a:pPr algn="l" indent="0" marL="0">
              <a:lnSpc>
                <a:spcPct val="142000"/>
              </a:lnSpc>
              <a:buNone/>
            </a:pPr>
            <a:r>
              <a:rPr lang="en-US" sz="2100" dirty="0">
                <a:solidFill>
                  <a:srgbClr val="16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which is exactly the source of the scale ambiguity we set out to solve.</a:t>
            </a:r>
            <a:endParaRPr lang="en-US" sz="2100" dirty="0"/>
          </a:p>
        </p:txBody>
      </p:sp>
      <p:sp>
        <p:nvSpPr>
          <p:cNvPr id="31" name="Text 29"/>
          <p:cNvSpPr/>
          <p:nvPr/>
        </p:nvSpPr>
        <p:spPr>
          <a:xfrm>
            <a:off x="1143000" y="9460230"/>
            <a:ext cx="5284438" cy="33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spc="132" kern="0" dirty="0">
                <a:solidFill>
                  <a:srgbClr val="6F76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Monocular to Stereo VO · TUM VI</a:t>
            </a:r>
            <a:endParaRPr lang="en-US" sz="1650" dirty="0"/>
          </a:p>
        </p:txBody>
      </p:sp>
      <p:sp>
        <p:nvSpPr>
          <p:cNvPr id="32" name="Text 30"/>
          <p:cNvSpPr/>
          <p:nvPr/>
        </p:nvSpPr>
        <p:spPr>
          <a:xfrm>
            <a:off x="16147376" y="9460230"/>
            <a:ext cx="1073825" cy="33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spc="132" kern="0" dirty="0">
                <a:solidFill>
                  <a:srgbClr val="6F76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 / 23</a:t>
            </a:r>
            <a:endParaRPr lang="en-US" sz="16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2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685800"/>
            <a:ext cx="16482060" cy="33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spc="264" kern="0" dirty="0">
                <a:solidFill>
                  <a:srgbClr val="6F76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 / METHOD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143000" y="1112520"/>
            <a:ext cx="14716125" cy="6963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800" spc="-48" kern="0" dirty="0">
                <a:solidFill>
                  <a:srgbClr val="161A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Stereo Pipeline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1143000" y="2799517"/>
            <a:ext cx="16482060" cy="9639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700" dirty="0">
                <a:solidFill>
                  <a:srgbClr val="16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stereo pipeline replaces 2D–2D epipolar geometry with 3D–2D PnP, anchored in real-world depth from disparity.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1143000" y="4068247"/>
            <a:ext cx="2555796" cy="1972747"/>
          </a:xfrm>
          <a:prstGeom prst="rect">
            <a:avLst/>
          </a:prstGeom>
          <a:solidFill>
            <a:srgbClr val="FFFFFF"/>
          </a:solidFill>
          <a:ln w="7620">
            <a:solidFill>
              <a:srgbClr val="D8D1C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22070" y="4247317"/>
            <a:ext cx="2273856" cy="33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spc="165" kern="0" dirty="0">
                <a:solidFill>
                  <a:srgbClr val="6F76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1322070" y="4616887"/>
            <a:ext cx="2273856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250" dirty="0">
                <a:solidFill>
                  <a:srgbClr val="161A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Rectify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1322070" y="5013127"/>
            <a:ext cx="2273856" cy="6251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650" dirty="0">
                <a:solidFill>
                  <a:srgbClr val="6F76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Fisheye-aware override of f</a:t>
            </a:r>
            <a:pPr algn="l" indent="0" marL="0">
              <a:lnSpc>
                <a:spcPct val="132000"/>
              </a:lnSpc>
              <a:buNone/>
            </a:pPr>
            <a:r>
              <a:rPr lang="en-US" sz="1375" baseline="-40000" dirty="0">
                <a:solidFill>
                  <a:srgbClr val="6F76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rect</a:t>
            </a:r>
            <a:pPr algn="l" indent="0" marL="0">
              <a:lnSpc>
                <a:spcPct val="132000"/>
              </a:lnSpc>
              <a:buNone/>
            </a:pPr>
            <a:r>
              <a:rPr lang="en-US" sz="1650" dirty="0">
                <a:solidFill>
                  <a:srgbClr val="6F76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3832146" y="4068247"/>
            <a:ext cx="2555915" cy="1972747"/>
          </a:xfrm>
          <a:prstGeom prst="rect">
            <a:avLst/>
          </a:prstGeom>
          <a:solidFill>
            <a:srgbClr val="FFFFFF"/>
          </a:solidFill>
          <a:ln w="7620">
            <a:solidFill>
              <a:srgbClr val="D8D1C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011216" y="4247317"/>
            <a:ext cx="2273975" cy="33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spc="165" kern="0" dirty="0">
                <a:solidFill>
                  <a:srgbClr val="6F76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4011216" y="4616887"/>
            <a:ext cx="2273975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250" dirty="0">
                <a:solidFill>
                  <a:srgbClr val="161A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SGBM disparity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4011216" y="5013127"/>
            <a:ext cx="2273975" cy="5912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650" dirty="0">
                <a:solidFill>
                  <a:srgbClr val="6F76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Indoor + outdoor presets.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6521411" y="4068247"/>
            <a:ext cx="2555796" cy="1972747"/>
          </a:xfrm>
          <a:prstGeom prst="rect">
            <a:avLst/>
          </a:prstGeom>
          <a:solidFill>
            <a:srgbClr val="FFFFFF"/>
          </a:solidFill>
          <a:ln w="7620">
            <a:solidFill>
              <a:srgbClr val="D8D1C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700481" y="4247317"/>
            <a:ext cx="2273856" cy="33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spc="165" kern="0" dirty="0">
                <a:solidFill>
                  <a:srgbClr val="6F76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6700481" y="4616887"/>
            <a:ext cx="2273856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250" dirty="0">
                <a:solidFill>
                  <a:srgbClr val="161A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Lift to 3D</a:t>
            </a:r>
            <a:endParaRPr lang="en-US" sz="2250" dirty="0"/>
          </a:p>
        </p:txBody>
      </p:sp>
      <p:sp>
        <p:nvSpPr>
          <p:cNvPr id="16" name="Text 14"/>
          <p:cNvSpPr/>
          <p:nvPr/>
        </p:nvSpPr>
        <p:spPr>
          <a:xfrm>
            <a:off x="6700481" y="5013127"/>
            <a:ext cx="2273856" cy="5912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650" dirty="0">
                <a:solidFill>
                  <a:srgbClr val="6F76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 = f·B / d for each FAST point.</a:t>
            </a:r>
            <a:endParaRPr lang="en-US" sz="1650" dirty="0"/>
          </a:p>
        </p:txBody>
      </p:sp>
      <p:sp>
        <p:nvSpPr>
          <p:cNvPr id="17" name="Shape 15"/>
          <p:cNvSpPr/>
          <p:nvPr/>
        </p:nvSpPr>
        <p:spPr>
          <a:xfrm>
            <a:off x="9210556" y="4068247"/>
            <a:ext cx="2555915" cy="1972747"/>
          </a:xfrm>
          <a:prstGeom prst="rect">
            <a:avLst/>
          </a:prstGeom>
          <a:solidFill>
            <a:srgbClr val="FFFFFF"/>
          </a:solidFill>
          <a:ln w="7620">
            <a:solidFill>
              <a:srgbClr val="D8D1C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389626" y="4247317"/>
            <a:ext cx="2273975" cy="33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spc="165" kern="0" dirty="0">
                <a:solidFill>
                  <a:srgbClr val="6F76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9389626" y="4616887"/>
            <a:ext cx="2273975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250" dirty="0">
                <a:solidFill>
                  <a:srgbClr val="161A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FB-LK track</a:t>
            </a:r>
            <a:endParaRPr lang="en-US" sz="2250" dirty="0"/>
          </a:p>
        </p:txBody>
      </p:sp>
      <p:sp>
        <p:nvSpPr>
          <p:cNvPr id="20" name="Text 18"/>
          <p:cNvSpPr/>
          <p:nvPr/>
        </p:nvSpPr>
        <p:spPr>
          <a:xfrm>
            <a:off x="9389626" y="5013127"/>
            <a:ext cx="2273975" cy="8678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650" dirty="0">
                <a:solidFill>
                  <a:srgbClr val="6F76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Round-trip error &lt; 1 px to next frame.</a:t>
            </a:r>
            <a:endParaRPr lang="en-US" sz="1650" dirty="0"/>
          </a:p>
        </p:txBody>
      </p:sp>
      <p:sp>
        <p:nvSpPr>
          <p:cNvPr id="21" name="Shape 19"/>
          <p:cNvSpPr/>
          <p:nvPr/>
        </p:nvSpPr>
        <p:spPr>
          <a:xfrm>
            <a:off x="11899821" y="4068247"/>
            <a:ext cx="2555915" cy="1972747"/>
          </a:xfrm>
          <a:prstGeom prst="rect">
            <a:avLst/>
          </a:prstGeom>
          <a:solidFill>
            <a:srgbClr val="FFFFFF"/>
          </a:solidFill>
          <a:ln w="7620">
            <a:solidFill>
              <a:srgbClr val="D8D1C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2078891" y="4247317"/>
            <a:ext cx="2273975" cy="33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spc="165" kern="0" dirty="0">
                <a:solidFill>
                  <a:srgbClr val="6F76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12078891" y="4616887"/>
            <a:ext cx="2273975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250" dirty="0">
                <a:solidFill>
                  <a:srgbClr val="161A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PnP-RANSAC</a:t>
            </a:r>
            <a:endParaRPr lang="en-US" sz="2250" dirty="0"/>
          </a:p>
        </p:txBody>
      </p:sp>
      <p:sp>
        <p:nvSpPr>
          <p:cNvPr id="24" name="Text 22"/>
          <p:cNvSpPr/>
          <p:nvPr/>
        </p:nvSpPr>
        <p:spPr>
          <a:xfrm>
            <a:off x="12078891" y="5013127"/>
            <a:ext cx="2273975" cy="8678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650" dirty="0">
                <a:solidFill>
                  <a:srgbClr val="6F76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3D–2D, 2 px threshold, 200 iters.</a:t>
            </a:r>
            <a:endParaRPr lang="en-US" sz="1650" dirty="0"/>
          </a:p>
        </p:txBody>
      </p:sp>
      <p:sp>
        <p:nvSpPr>
          <p:cNvPr id="25" name="Shape 23"/>
          <p:cNvSpPr/>
          <p:nvPr/>
        </p:nvSpPr>
        <p:spPr>
          <a:xfrm>
            <a:off x="14589085" y="4068247"/>
            <a:ext cx="2555915" cy="1972747"/>
          </a:xfrm>
          <a:prstGeom prst="rect">
            <a:avLst/>
          </a:prstGeom>
          <a:solidFill>
            <a:srgbClr val="FFFFFF"/>
          </a:solidFill>
          <a:ln w="7620">
            <a:solidFill>
              <a:srgbClr val="D8D1C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4768156" y="4247317"/>
            <a:ext cx="2273975" cy="33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spc="165" kern="0" dirty="0">
                <a:solidFill>
                  <a:srgbClr val="6F76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1650" dirty="0"/>
          </a:p>
        </p:txBody>
      </p:sp>
      <p:sp>
        <p:nvSpPr>
          <p:cNvPr id="27" name="Text 25"/>
          <p:cNvSpPr/>
          <p:nvPr/>
        </p:nvSpPr>
        <p:spPr>
          <a:xfrm>
            <a:off x="14768156" y="4616887"/>
            <a:ext cx="2273975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250" dirty="0">
                <a:solidFill>
                  <a:srgbClr val="161A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Motion-only BA</a:t>
            </a:r>
            <a:endParaRPr lang="en-US" sz="2250" dirty="0"/>
          </a:p>
        </p:txBody>
      </p:sp>
      <p:sp>
        <p:nvSpPr>
          <p:cNvPr id="28" name="Text 26"/>
          <p:cNvSpPr/>
          <p:nvPr/>
        </p:nvSpPr>
        <p:spPr>
          <a:xfrm>
            <a:off x="14768156" y="5013127"/>
            <a:ext cx="2273975" cy="8678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650" dirty="0">
                <a:solidFill>
                  <a:srgbClr val="6F76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Levenberg–Marquardt on inliers.</a:t>
            </a:r>
            <a:endParaRPr lang="en-US" sz="1650" dirty="0"/>
          </a:p>
        </p:txBody>
      </p:sp>
      <p:sp>
        <p:nvSpPr>
          <p:cNvPr id="29" name="Shape 27"/>
          <p:cNvSpPr/>
          <p:nvPr/>
        </p:nvSpPr>
        <p:spPr>
          <a:xfrm>
            <a:off x="1143000" y="6174343"/>
            <a:ext cx="16002000" cy="1419582"/>
          </a:xfrm>
          <a:prstGeom prst="rect">
            <a:avLst/>
          </a:prstGeom>
          <a:solidFill>
            <a:srgbClr val="FFFFFF"/>
          </a:solidFill>
          <a:ln w="7620">
            <a:solidFill>
              <a:srgbClr val="D8D1C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322070" y="6353413"/>
            <a:ext cx="16113176" cy="33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spc="165" kern="0" dirty="0">
                <a:solidFill>
                  <a:srgbClr val="6F76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</a:t>
            </a:r>
            <a:endParaRPr lang="en-US" sz="1650" dirty="0"/>
          </a:p>
        </p:txBody>
      </p:sp>
      <p:sp>
        <p:nvSpPr>
          <p:cNvPr id="31" name="Text 29"/>
          <p:cNvSpPr/>
          <p:nvPr/>
        </p:nvSpPr>
        <p:spPr>
          <a:xfrm>
            <a:off x="1322070" y="6722983"/>
            <a:ext cx="16113176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250" dirty="0">
                <a:solidFill>
                  <a:srgbClr val="161A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Confidence gate</a:t>
            </a:r>
            <a:endParaRPr lang="en-US" sz="2250" dirty="0"/>
          </a:p>
        </p:txBody>
      </p:sp>
      <p:sp>
        <p:nvSpPr>
          <p:cNvPr id="32" name="Text 30"/>
          <p:cNvSpPr/>
          <p:nvPr/>
        </p:nvSpPr>
        <p:spPr>
          <a:xfrm>
            <a:off x="1322070" y="7119223"/>
            <a:ext cx="16113176" cy="3146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650" dirty="0">
                <a:solidFill>
                  <a:srgbClr val="6F76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Soft-flag if reprojection RMSE &gt; 1 px.</a:t>
            </a:r>
            <a:endParaRPr lang="en-US" sz="1650" dirty="0"/>
          </a:p>
        </p:txBody>
      </p:sp>
      <p:sp>
        <p:nvSpPr>
          <p:cNvPr id="33" name="Text 31"/>
          <p:cNvSpPr/>
          <p:nvPr/>
        </p:nvSpPr>
        <p:spPr>
          <a:xfrm>
            <a:off x="1143000" y="8013025"/>
            <a:ext cx="16482060" cy="11739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2000"/>
              </a:lnSpc>
              <a:buNone/>
            </a:pPr>
            <a:r>
              <a:rPr lang="en-US" sz="2100" dirty="0">
                <a:solidFill>
                  <a:srgbClr val="16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component is small on its own; the combination is what produces hard-skip rates below 0.1 % on all three sequences. The next slides walk through the three components that matter most — fisheye rectification, forward–backward LK with PnP, and the refinement-plus-gating stage.</a:t>
            </a:r>
            <a:endParaRPr lang="en-US" sz="2100" dirty="0"/>
          </a:p>
        </p:txBody>
      </p:sp>
      <p:sp>
        <p:nvSpPr>
          <p:cNvPr id="34" name="Text 32"/>
          <p:cNvSpPr/>
          <p:nvPr/>
        </p:nvSpPr>
        <p:spPr>
          <a:xfrm>
            <a:off x="1143000" y="9460230"/>
            <a:ext cx="5284438" cy="33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spc="132" kern="0" dirty="0">
                <a:solidFill>
                  <a:srgbClr val="6F76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Monocular to Stereo VO · TUM VI</a:t>
            </a:r>
            <a:endParaRPr lang="en-US" sz="1650" dirty="0"/>
          </a:p>
        </p:txBody>
      </p:sp>
      <p:sp>
        <p:nvSpPr>
          <p:cNvPr id="35" name="Text 33"/>
          <p:cNvSpPr/>
          <p:nvPr/>
        </p:nvSpPr>
        <p:spPr>
          <a:xfrm>
            <a:off x="16147376" y="9460230"/>
            <a:ext cx="1073825" cy="33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spc="132" kern="0" dirty="0">
                <a:solidFill>
                  <a:srgbClr val="6F76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 / 23</a:t>
            </a:r>
            <a:endParaRPr lang="en-US" sz="16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2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685800"/>
            <a:ext cx="16482060" cy="33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spc="264" kern="0" dirty="0">
                <a:solidFill>
                  <a:srgbClr val="6F76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 / METHOD · DETAIL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143000" y="1112520"/>
            <a:ext cx="14716125" cy="6963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800" spc="-48" kern="0" dirty="0">
                <a:solidFill>
                  <a:srgbClr val="161A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Fisheye Rectification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1143000" y="2875717"/>
            <a:ext cx="6858000" cy="3600450"/>
          </a:xfrm>
          <a:prstGeom prst="rect">
            <a:avLst/>
          </a:prstGeom>
          <a:solidFill>
            <a:srgbClr val="FFFFFF"/>
          </a:solidFill>
          <a:ln w="7620">
            <a:solidFill>
              <a:srgbClr val="D8D1C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493520" y="3188137"/>
            <a:ext cx="6341669" cy="33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spc="198" kern="0" dirty="0">
                <a:solidFill>
                  <a:srgbClr val="6F76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OUT-OF-THE-BOX OPENCV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1493520" y="3614857"/>
            <a:ext cx="6341669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200" spc="-144" kern="0" dirty="0">
                <a:solidFill>
                  <a:srgbClr val="B14A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54 px</a:t>
            </a:r>
            <a:endParaRPr lang="en-US" sz="7200" dirty="0"/>
          </a:p>
        </p:txBody>
      </p:sp>
      <p:sp>
        <p:nvSpPr>
          <p:cNvPr id="7" name="Text 5"/>
          <p:cNvSpPr/>
          <p:nvPr/>
        </p:nvSpPr>
        <p:spPr>
          <a:xfrm>
            <a:off x="1493520" y="4662607"/>
            <a:ext cx="6341669" cy="1539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100" dirty="0">
                <a:solidFill>
                  <a:srgbClr val="2B3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Rectified focal length returned by </a:t>
            </a:r>
            <a:pPr algn="l" indent="0" marL="0">
              <a:lnSpc>
                <a:spcPct val="135000"/>
              </a:lnSpc>
              <a:buNone/>
            </a:pPr>
            <a:r>
              <a:rPr lang="en-US" sz="2100" dirty="0">
                <a:solidFill>
                  <a:srgbClr val="2B31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cv2.fisheye.stereoRectify </a:t>
            </a:r>
            <a:pPr algn="l" indent="0" marL="0">
              <a:lnSpc>
                <a:spcPct val="135000"/>
              </a:lnSpc>
              <a:buNone/>
            </a:pPr>
            <a:r>
              <a:rPr lang="en-US" sz="2100" dirty="0">
                <a:solidFill>
                  <a:srgbClr val="2B3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Maximum reliable depth: </a:t>
            </a:r>
            <a:pPr algn="l" indent="0" marL="0">
              <a:lnSpc>
                <a:spcPct val="135000"/>
              </a:lnSpc>
              <a:buNone/>
            </a:pPr>
            <a:r>
              <a:rPr lang="en-US" sz="2100" dirty="0">
                <a:solidFill>
                  <a:srgbClr val="2B31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f·B / 1 ≈ 5.4 m </a:t>
            </a:r>
            <a:pPr algn="l" indent="0" marL="0">
              <a:lnSpc>
                <a:spcPct val="135000"/>
              </a:lnSpc>
              <a:buNone/>
            </a:pPr>
            <a:r>
              <a:rPr lang="en-US" sz="2100" dirty="0">
                <a:solidFill>
                  <a:srgbClr val="2B3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unusable.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1143000" y="6685717"/>
            <a:ext cx="6858000" cy="3209925"/>
          </a:xfrm>
          <a:prstGeom prst="rect">
            <a:avLst/>
          </a:prstGeom>
          <a:solidFill>
            <a:srgbClr val="FFFFFF"/>
          </a:solidFill>
          <a:ln w="7620">
            <a:solidFill>
              <a:srgbClr val="D8D1C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493520" y="6998137"/>
            <a:ext cx="6341669" cy="33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spc="198" kern="0" dirty="0">
                <a:solidFill>
                  <a:srgbClr val="6F76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OUR OVERRIDE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1493520" y="7424857"/>
            <a:ext cx="6341669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200" spc="-144" kern="0" dirty="0">
                <a:solidFill>
                  <a:srgbClr val="2A6F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191 px</a:t>
            </a:r>
            <a:endParaRPr lang="en-US" sz="7200" dirty="0"/>
          </a:p>
        </p:txBody>
      </p:sp>
      <p:sp>
        <p:nvSpPr>
          <p:cNvPr id="11" name="Text 9"/>
          <p:cNvSpPr/>
          <p:nvPr/>
        </p:nvSpPr>
        <p:spPr>
          <a:xfrm>
            <a:off x="1493520" y="8472607"/>
            <a:ext cx="6341669" cy="11487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100" dirty="0">
                <a:solidFill>
                  <a:srgbClr val="2B3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retain the computed rotation maps but override the projection matrices with the original focal length. Maximum reliable depth extends to </a:t>
            </a:r>
            <a:pPr algn="l" indent="0" marL="0">
              <a:lnSpc>
                <a:spcPct val="135000"/>
              </a:lnSpc>
              <a:buNone/>
            </a:pPr>
            <a:r>
              <a:rPr lang="en-US" sz="2100" dirty="0">
                <a:solidFill>
                  <a:srgbClr val="2B31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≈ 19 m</a:t>
            </a:r>
            <a:pPr algn="l" indent="0" marL="0">
              <a:lnSpc>
                <a:spcPct val="135000"/>
              </a:lnSpc>
              <a:buNone/>
            </a:pPr>
            <a:r>
              <a:rPr lang="en-US" sz="2100" dirty="0">
                <a:solidFill>
                  <a:srgbClr val="2B3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8686800" y="2875717"/>
            <a:ext cx="8711946" cy="9639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700" dirty="0">
                <a:solidFill>
                  <a:srgbClr val="16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190° field of view breaks OpenCV's automatic rectification.</a:t>
            </a:r>
            <a:endParaRPr lang="en-US" sz="2700" dirty="0"/>
          </a:p>
        </p:txBody>
      </p:sp>
      <p:sp>
        <p:nvSpPr>
          <p:cNvPr id="13" name="Text 11"/>
          <p:cNvSpPr/>
          <p:nvPr/>
        </p:nvSpPr>
        <p:spPr>
          <a:xfrm>
            <a:off x="8686800" y="4315897"/>
            <a:ext cx="8711946" cy="9036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2000"/>
              </a:lnSpc>
              <a:buNone/>
            </a:pPr>
            <a:r>
              <a:rPr lang="en-US" sz="2400" dirty="0">
                <a:solidFill>
                  <a:srgbClr val="16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automatic projection matrices shrink the focal length so aggressively that no useful disparity range remains.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8686800" y="6000631"/>
            <a:ext cx="8711946" cy="13364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2000"/>
              </a:lnSpc>
              <a:buNone/>
            </a:pPr>
            <a:r>
              <a:rPr lang="en-US" sz="2400" dirty="0">
                <a:solidFill>
                  <a:srgbClr val="16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override is principled, not a hack: we keep the rotation maps that align the two epipoles, and reuse the original calibrated focal length in the new projection matrices.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8686800" y="8118157"/>
            <a:ext cx="8711946" cy="13364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2000"/>
              </a:lnSpc>
              <a:buNone/>
            </a:pPr>
            <a:r>
              <a:rPr lang="en-US" sz="2400" dirty="0">
                <a:solidFill>
                  <a:srgbClr val="16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gives a single, internally consistent </a:t>
            </a:r>
            <a:pPr algn="l" indent="0" marL="0">
              <a:lnSpc>
                <a:spcPct val="142000"/>
              </a:lnSpc>
              <a:buNone/>
            </a:pPr>
            <a:r>
              <a:rPr lang="en-US" sz="2400" i="1" dirty="0">
                <a:solidFill>
                  <a:srgbClr val="161A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 </a:t>
            </a:r>
            <a:pPr algn="l" indent="0" marL="0">
              <a:lnSpc>
                <a:spcPct val="142000"/>
              </a:lnSpc>
              <a:buNone/>
            </a:pPr>
            <a:r>
              <a:rPr lang="en-US" sz="2400" dirty="0">
                <a:solidFill>
                  <a:srgbClr val="16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across rectification, disparity-to-depth, and PnP intrinsics — the most common stereo calibration bug disappears.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1143000" y="9460230"/>
            <a:ext cx="5284438" cy="33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spc="132" kern="0" dirty="0">
                <a:solidFill>
                  <a:srgbClr val="6F76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Monocular to Stereo VO · TUM VI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16147376" y="9460230"/>
            <a:ext cx="1073825" cy="33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spc="132" kern="0" dirty="0">
                <a:solidFill>
                  <a:srgbClr val="6F76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/ 23</a:t>
            </a:r>
            <a:endParaRPr lang="en-US" sz="16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2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685800"/>
            <a:ext cx="16482060" cy="33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spc="264" kern="0" dirty="0">
                <a:solidFill>
                  <a:srgbClr val="6F76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/ METHOD · DETAIL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143000" y="1112520"/>
            <a:ext cx="14716125" cy="6963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800" spc="-48" kern="0" dirty="0">
                <a:solidFill>
                  <a:srgbClr val="161A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Tracking and Pose — FB-LK + PnP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1143000" y="2647117"/>
            <a:ext cx="9653778" cy="9639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700" dirty="0">
                <a:solidFill>
                  <a:srgbClr val="16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robustness ideas do most of the heavy lifting on the front end.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143000" y="4011097"/>
            <a:ext cx="9653778" cy="11739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2000"/>
              </a:lnSpc>
              <a:buNone/>
            </a:pPr>
            <a:r>
              <a:rPr lang="en-US" sz="2100" b="1" dirty="0">
                <a:solidFill>
                  <a:srgbClr val="16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Forward–backward Lucas–Kanade. </a:t>
            </a:r>
            <a:pPr algn="l" indent="0" marL="0">
              <a:lnSpc>
                <a:spcPct val="142000"/>
              </a:lnSpc>
              <a:buNone/>
            </a:pPr>
            <a:r>
              <a:rPr lang="en-US" sz="2100" dirty="0">
                <a:solidFill>
                  <a:srgbClr val="16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feature is tracked forward to the next frame and then backward to the previous one; the round-trip error must be below one pixel, otherwise the track is discarded before RANSAC ever sees it.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143000" y="5851803"/>
            <a:ext cx="9653778" cy="11739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2000"/>
              </a:lnSpc>
              <a:buNone/>
            </a:pPr>
            <a:r>
              <a:rPr lang="en-US" sz="2100" dirty="0">
                <a:solidFill>
                  <a:srgbClr val="16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single check eliminated more than ninety percent of the PnP failures we observed on early runs — bad tracks were filtered out before they could corrupt the consensus set.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143000" y="7692509"/>
            <a:ext cx="9653778" cy="11739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2000"/>
              </a:lnSpc>
              <a:buNone/>
            </a:pPr>
            <a:r>
              <a:rPr lang="en-US" sz="2100" b="1" dirty="0">
                <a:solidFill>
                  <a:srgbClr val="16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3D–2D PnP-RANSAC. </a:t>
            </a:r>
            <a:pPr algn="l" indent="0" marL="0">
              <a:lnSpc>
                <a:spcPct val="142000"/>
              </a:lnSpc>
              <a:buNone/>
            </a:pPr>
            <a:r>
              <a:rPr lang="en-US" sz="2100" dirty="0">
                <a:solidFill>
                  <a:srgbClr val="16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Surviving features carry metric 3D coordinates from the disparity map; PnP finds the pose that reprojects them onto the next image with sub-pixel error.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11049000" y="2647117"/>
            <a:ext cx="6096000" cy="6546175"/>
          </a:xfrm>
          <a:prstGeom prst="rect">
            <a:avLst/>
          </a:prstGeom>
          <a:solidFill>
            <a:srgbClr val="FFFFFF"/>
          </a:solidFill>
          <a:ln w="7620">
            <a:solidFill>
              <a:srgbClr val="D8D1C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437620" y="2997637"/>
            <a:ext cx="5478323" cy="33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spc="264" kern="0" dirty="0">
                <a:solidFill>
                  <a:srgbClr val="6F76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FORWARD–BACKWARD CONSISTENCY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11437620" y="3500557"/>
            <a:ext cx="5478323" cy="172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4800" i="1" spc="-48" kern="0" dirty="0">
                <a:solidFill>
                  <a:srgbClr val="161A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‖ LK</a:t>
            </a:r>
            <a:pPr algn="l" indent="0" marL="0">
              <a:lnSpc>
                <a:spcPct val="130000"/>
              </a:lnSpc>
              <a:buNone/>
            </a:pPr>
            <a:r>
              <a:rPr lang="en-US" sz="4000" i="1" baseline="-40000" spc="-48" kern="0" dirty="0">
                <a:solidFill>
                  <a:srgbClr val="161A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↓</a:t>
            </a:r>
            <a:pPr algn="l" indent="0" marL="0">
              <a:lnSpc>
                <a:spcPct val="130000"/>
              </a:lnSpc>
              <a:buNone/>
            </a:pPr>
            <a:r>
              <a:rPr lang="en-US" sz="4800" i="1" spc="-48" kern="0" dirty="0">
                <a:solidFill>
                  <a:srgbClr val="161A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 LK</a:t>
            </a:r>
            <a:pPr algn="l" indent="0" marL="0">
              <a:lnSpc>
                <a:spcPct val="130000"/>
              </a:lnSpc>
              <a:buNone/>
            </a:pPr>
            <a:r>
              <a:rPr lang="en-US" sz="4000" i="1" baseline="-40000" spc="-48" kern="0" dirty="0">
                <a:solidFill>
                  <a:srgbClr val="161A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↑ </a:t>
            </a:r>
            <a:pPr algn="l" indent="0" marL="0">
              <a:lnSpc>
                <a:spcPct val="130000"/>
              </a:lnSpc>
              <a:buNone/>
            </a:pPr>
            <a:r>
              <a:rPr lang="en-US" sz="4800" i="1" spc="-48" kern="0" dirty="0">
                <a:solidFill>
                  <a:srgbClr val="161A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(x</a:t>
            </a:r>
            <a:pPr algn="l" indent="0" marL="0">
              <a:lnSpc>
                <a:spcPct val="130000"/>
              </a:lnSpc>
              <a:buNone/>
            </a:pPr>
            <a:r>
              <a:rPr lang="en-US" sz="4000" i="1" baseline="-40000" spc="-48" kern="0" dirty="0">
                <a:solidFill>
                  <a:srgbClr val="161A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 </a:t>
            </a:r>
            <a:pPr algn="l" indent="0" marL="0">
              <a:lnSpc>
                <a:spcPct val="130000"/>
              </a:lnSpc>
              <a:buNone/>
            </a:pPr>
            <a:r>
              <a:rPr lang="en-US" sz="4800" i="1" spc="-48" kern="0" dirty="0">
                <a:solidFill>
                  <a:srgbClr val="161A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) ) − x</a:t>
            </a:r>
            <a:pPr algn="l" indent="0" marL="0">
              <a:lnSpc>
                <a:spcPct val="130000"/>
              </a:lnSpc>
              <a:buNone/>
            </a:pPr>
            <a:r>
              <a:rPr lang="en-US" sz="4000" i="1" baseline="-40000" spc="-48" kern="0" dirty="0">
                <a:solidFill>
                  <a:srgbClr val="161A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 </a:t>
            </a:r>
            <a:pPr algn="l" indent="0" marL="0">
              <a:lnSpc>
                <a:spcPct val="130000"/>
              </a:lnSpc>
              <a:buNone/>
            </a:pPr>
            <a:r>
              <a:rPr lang="en-US" sz="4800" i="1" spc="-48" kern="0" dirty="0">
                <a:solidFill>
                  <a:srgbClr val="161A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‖ &lt; 1.0 px</a:t>
            </a:r>
            <a:endParaRPr lang="en-US" sz="4800" dirty="0"/>
          </a:p>
        </p:txBody>
      </p:sp>
      <p:sp>
        <p:nvSpPr>
          <p:cNvPr id="11" name="Shape 9"/>
          <p:cNvSpPr/>
          <p:nvPr/>
        </p:nvSpPr>
        <p:spPr>
          <a:xfrm>
            <a:off x="11437620" y="5494497"/>
            <a:ext cx="5318760" cy="9525"/>
          </a:xfrm>
          <a:prstGeom prst="rect">
            <a:avLst/>
          </a:prstGeom>
          <a:solidFill>
            <a:srgbClr val="D8D1C2"/>
          </a:solidFill>
          <a:ln/>
        </p:spPr>
      </p:sp>
      <p:sp>
        <p:nvSpPr>
          <p:cNvPr id="12" name="Text 10"/>
          <p:cNvSpPr/>
          <p:nvPr/>
        </p:nvSpPr>
        <p:spPr>
          <a:xfrm>
            <a:off x="11437620" y="5808822"/>
            <a:ext cx="5478323" cy="33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spc="264" kern="0" dirty="0">
                <a:solidFill>
                  <a:srgbClr val="6F76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PNP-RANSAC OBJECTIVE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11437620" y="6311741"/>
            <a:ext cx="5478323" cy="162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4200" i="1" spc="-42" kern="0" dirty="0">
                <a:solidFill>
                  <a:srgbClr val="161A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min</a:t>
            </a:r>
            <a:pPr algn="l" indent="0" marL="0">
              <a:lnSpc>
                <a:spcPct val="140000"/>
              </a:lnSpc>
              <a:buNone/>
            </a:pPr>
            <a:r>
              <a:rPr lang="en-US" sz="3500" i="1" baseline="-40000" spc="-42" kern="0" dirty="0">
                <a:solidFill>
                  <a:srgbClr val="161A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R, t </a:t>
            </a:r>
            <a:pPr algn="l" indent="0" marL="0">
              <a:lnSpc>
                <a:spcPct val="140000"/>
              </a:lnSpc>
              <a:buNone/>
            </a:pPr>
            <a:r>
              <a:rPr lang="en-US" sz="4200" i="1" spc="-42" kern="0" dirty="0">
                <a:solidFill>
                  <a:srgbClr val="161A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Σ</a:t>
            </a:r>
            <a:pPr algn="l" indent="0" marL="0">
              <a:lnSpc>
                <a:spcPct val="140000"/>
              </a:lnSpc>
              <a:buNone/>
            </a:pPr>
            <a:r>
              <a:rPr lang="en-US" sz="3500" i="1" baseline="-40000" spc="-42" kern="0" dirty="0">
                <a:solidFill>
                  <a:srgbClr val="161A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 ∈ I </a:t>
            </a:r>
            <a:pPr algn="l" indent="0" marL="0">
              <a:lnSpc>
                <a:spcPct val="140000"/>
              </a:lnSpc>
              <a:buNone/>
            </a:pPr>
            <a:r>
              <a:rPr lang="en-US" sz="4200" i="1" spc="-42" kern="0" dirty="0">
                <a:solidFill>
                  <a:srgbClr val="161A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‖ x</a:t>
            </a:r>
            <a:pPr algn="l" indent="0" marL="0">
              <a:lnSpc>
                <a:spcPct val="140000"/>
              </a:lnSpc>
              <a:buNone/>
            </a:pPr>
            <a:r>
              <a:rPr lang="en-US" sz="3500" i="1" baseline="-40000" spc="-42" kern="0" dirty="0">
                <a:solidFill>
                  <a:srgbClr val="161A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 </a:t>
            </a:r>
            <a:pPr algn="l" indent="0" marL="0">
              <a:lnSpc>
                <a:spcPct val="140000"/>
              </a:lnSpc>
              <a:buNone/>
            </a:pPr>
            <a:r>
              <a:rPr lang="en-US" sz="4200" i="1" spc="-42" kern="0" dirty="0">
                <a:solidFill>
                  <a:srgbClr val="161A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− π( R X</a:t>
            </a:r>
            <a:pPr algn="l" indent="0" marL="0">
              <a:lnSpc>
                <a:spcPct val="140000"/>
              </a:lnSpc>
              <a:buNone/>
            </a:pPr>
            <a:r>
              <a:rPr lang="en-US" sz="3500" i="1" baseline="-40000" spc="-42" kern="0" dirty="0">
                <a:solidFill>
                  <a:srgbClr val="161A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 </a:t>
            </a:r>
            <a:pPr algn="l" indent="0" marL="0">
              <a:lnSpc>
                <a:spcPct val="140000"/>
              </a:lnSpc>
              <a:buNone/>
            </a:pPr>
            <a:r>
              <a:rPr lang="en-US" sz="4200" i="1" spc="-42" kern="0" dirty="0">
                <a:solidFill>
                  <a:srgbClr val="161A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 t ) ‖²</a:t>
            </a:r>
            <a:endParaRPr lang="en-US" sz="4200" dirty="0"/>
          </a:p>
        </p:txBody>
      </p:sp>
      <p:sp>
        <p:nvSpPr>
          <p:cNvPr id="14" name="Text 12"/>
          <p:cNvSpPr/>
          <p:nvPr/>
        </p:nvSpPr>
        <p:spPr>
          <a:xfrm>
            <a:off x="11437620" y="8149352"/>
            <a:ext cx="5478323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spc="117" kern="0" dirty="0">
                <a:solidFill>
                  <a:srgbClr val="6F76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RANSAC THRESHOLD 2 PX · 200 ITERS · CONF 0.999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1143000" y="9460230"/>
            <a:ext cx="5284438" cy="33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spc="132" kern="0" dirty="0">
                <a:solidFill>
                  <a:srgbClr val="6F76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Monocular to Stereo VO · TUM VI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16147376" y="9460230"/>
            <a:ext cx="1073825" cy="33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spc="132" kern="0" dirty="0">
                <a:solidFill>
                  <a:srgbClr val="6F76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 / 23</a:t>
            </a:r>
            <a:endParaRPr lang="en-US" sz="16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2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685800"/>
            <a:ext cx="16482060" cy="33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spc="264" kern="0" dirty="0">
                <a:solidFill>
                  <a:srgbClr val="6F76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 / METHOD · DETAIL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143000" y="1112520"/>
            <a:ext cx="14716125" cy="6963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800" spc="-48" kern="0" dirty="0">
                <a:solidFill>
                  <a:srgbClr val="161A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Refinement and Depth Gating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1143000" y="2799517"/>
            <a:ext cx="4978361" cy="5316021"/>
          </a:xfrm>
          <a:prstGeom prst="rect">
            <a:avLst/>
          </a:prstGeom>
          <a:solidFill>
            <a:srgbClr val="FFFFFF"/>
          </a:solidFill>
          <a:ln w="7620">
            <a:solidFill>
              <a:srgbClr val="D8D1C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455420" y="3073837"/>
            <a:ext cx="4484126" cy="624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spc="198" kern="0" dirty="0">
                <a:solidFill>
                  <a:srgbClr val="6F76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MOTION-ONLY BUNDLE ADJUSTMENT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1455420" y="3851077"/>
            <a:ext cx="4484126" cy="13193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2850" dirty="0">
                <a:solidFill>
                  <a:srgbClr val="161A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Levenberg–Marquardt refinement of pose on the inlier set.</a:t>
            </a:r>
            <a:endParaRPr lang="en-US" sz="2850" dirty="0"/>
          </a:p>
        </p:txBody>
      </p:sp>
      <p:sp>
        <p:nvSpPr>
          <p:cNvPr id="7" name="Text 5"/>
          <p:cNvSpPr/>
          <p:nvPr/>
        </p:nvSpPr>
        <p:spPr>
          <a:xfrm>
            <a:off x="1455420" y="5513308"/>
            <a:ext cx="4484126" cy="2118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6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RANSAC produces an inlier-consistent but coarse estimate. LM minimises the reprojection residual </a:t>
            </a:r>
            <a:pPr algn="l" indent="0" marL="0">
              <a:lnSpc>
                <a:spcPct val="140000"/>
              </a:lnSpc>
              <a:buNone/>
            </a:pPr>
            <a:r>
              <a:rPr lang="en-US" sz="1950" i="1" dirty="0">
                <a:solidFill>
                  <a:srgbClr val="16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</a:t>
            </a:r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6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 the consensus inliers — the dominant per-frame noise source on long outdoor sequences.</a:t>
            </a:r>
            <a:endParaRPr lang="en-US" sz="1950" dirty="0"/>
          </a:p>
        </p:txBody>
      </p:sp>
      <p:sp>
        <p:nvSpPr>
          <p:cNvPr id="8" name="Shape 6"/>
          <p:cNvSpPr/>
          <p:nvPr/>
        </p:nvSpPr>
        <p:spPr>
          <a:xfrm>
            <a:off x="6654761" y="2799517"/>
            <a:ext cx="4978479" cy="5316021"/>
          </a:xfrm>
          <a:prstGeom prst="rect">
            <a:avLst/>
          </a:prstGeom>
          <a:solidFill>
            <a:srgbClr val="FFFFFF"/>
          </a:solidFill>
          <a:ln w="7620">
            <a:solidFill>
              <a:srgbClr val="D8D1C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967181" y="3073837"/>
            <a:ext cx="4484249" cy="33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spc="198" kern="0" dirty="0">
                <a:solidFill>
                  <a:srgbClr val="6F76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REPROJECTION CONFIDENCE GATE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6967181" y="3557707"/>
            <a:ext cx="4484249" cy="8922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2850" dirty="0">
                <a:solidFill>
                  <a:srgbClr val="161A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Soft-flag — never hard-skip — borderline frames.</a:t>
            </a:r>
            <a:endParaRPr lang="en-US" sz="2850" dirty="0"/>
          </a:p>
        </p:txBody>
      </p:sp>
      <p:sp>
        <p:nvSpPr>
          <p:cNvPr id="11" name="Text 9"/>
          <p:cNvSpPr/>
          <p:nvPr/>
        </p:nvSpPr>
        <p:spPr>
          <a:xfrm>
            <a:off x="6967181" y="4792861"/>
            <a:ext cx="4484249" cy="2133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6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Frames with reprojection RMSE above 1 px are logged as </a:t>
            </a:r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61A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REPROJ_LOW_CONF </a:t>
            </a:r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6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 kept in the trajectory. Skipping them loses real motion contribution, which empirically hurts more than absorbing some noise.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12166640" y="2799517"/>
            <a:ext cx="4978361" cy="5316021"/>
          </a:xfrm>
          <a:prstGeom prst="rect">
            <a:avLst/>
          </a:prstGeom>
          <a:solidFill>
            <a:srgbClr val="FFFFFF"/>
          </a:solidFill>
          <a:ln w="7620">
            <a:solidFill>
              <a:srgbClr val="D8D1C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479060" y="3073837"/>
            <a:ext cx="4484126" cy="33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spc="198" kern="0" dirty="0">
                <a:solidFill>
                  <a:srgbClr val="6F76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PER-SEQUENCE DEPTH GATING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12479060" y="3557707"/>
            <a:ext cx="4484126" cy="8922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2850" dirty="0">
                <a:solidFill>
                  <a:srgbClr val="161A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Outdoors: disparity ≥ 1 px, depth ≤ 20 m.</a:t>
            </a:r>
            <a:endParaRPr lang="en-US" sz="2850" dirty="0"/>
          </a:p>
        </p:txBody>
      </p:sp>
      <p:sp>
        <p:nvSpPr>
          <p:cNvPr id="15" name="Text 13"/>
          <p:cNvSpPr/>
          <p:nvPr/>
        </p:nvSpPr>
        <p:spPr>
          <a:xfrm>
            <a:off x="12479060" y="4792861"/>
            <a:ext cx="4484126" cy="2133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6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Depth error grows quadratically: </a:t>
            </a:r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61A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δZ/Z </a:t>
            </a:r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6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reaches 52 % at 20 m. Including far points feels generous but injects large bias into PnP. Gating drops the Outdoors5 drift rate from 6.1 % to 4.8 %.</a:t>
            </a:r>
            <a:endParaRPr lang="en-US" sz="1950" dirty="0"/>
          </a:p>
        </p:txBody>
      </p:sp>
      <p:sp>
        <p:nvSpPr>
          <p:cNvPr id="16" name="Shape 14"/>
          <p:cNvSpPr/>
          <p:nvPr/>
        </p:nvSpPr>
        <p:spPr>
          <a:xfrm>
            <a:off x="1143000" y="8496538"/>
            <a:ext cx="38100" cy="957024"/>
          </a:xfrm>
          <a:prstGeom prst="rect">
            <a:avLst/>
          </a:prstGeom>
          <a:solidFill>
            <a:srgbClr val="B68420"/>
          </a:solidFill>
          <a:ln/>
        </p:spPr>
      </p:sp>
      <p:sp>
        <p:nvSpPr>
          <p:cNvPr id="17" name="Text 15"/>
          <p:cNvSpPr/>
          <p:nvPr/>
        </p:nvSpPr>
        <p:spPr>
          <a:xfrm>
            <a:off x="1447800" y="8572738"/>
            <a:ext cx="13744194" cy="8427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2400" i="1" dirty="0">
                <a:solidFill>
                  <a:srgbClr val="161A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“Seeing further” through stereo can hurt accuracy when the far points are poorly conditioned. Depth uncertainty is not a footnote — it is the failure mode.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1143000" y="9460230"/>
            <a:ext cx="5284438" cy="33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spc="132" kern="0" dirty="0">
                <a:solidFill>
                  <a:srgbClr val="6F76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Monocular to Stereo VO · TUM VI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16147376" y="9460230"/>
            <a:ext cx="1073825" cy="33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spc="132" kern="0" dirty="0">
                <a:solidFill>
                  <a:srgbClr val="6F76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/ 23</a:t>
            </a:r>
            <a:endParaRPr lang="en-US" sz="16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2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685800"/>
            <a:ext cx="16482060" cy="33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spc="264" kern="0" dirty="0">
                <a:solidFill>
                  <a:srgbClr val="6F76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/ EVALUATION PITFALLS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143000" y="1112520"/>
            <a:ext cx="14716125" cy="6963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800" spc="-48" kern="0" dirty="0">
                <a:solidFill>
                  <a:srgbClr val="161A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Pitfall I — Camera–IMU Frame Mismatch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1143000" y="3892510"/>
            <a:ext cx="6475095" cy="1965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6500" spc="-660" kern="0" dirty="0">
                <a:solidFill>
                  <a:srgbClr val="B68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</a:t>
            </a:r>
            <a:pPr algn="l" indent="0" marL="0">
              <a:lnSpc>
                <a:spcPct val="92000"/>
              </a:lnSpc>
              <a:buNone/>
            </a:pPr>
            <a:r>
              <a:rPr lang="en-US" sz="10500" spc="-660" kern="0" dirty="0">
                <a:solidFill>
                  <a:srgbClr val="B68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×</a:t>
            </a:r>
            <a:endParaRPr lang="en-US" sz="16500" dirty="0"/>
          </a:p>
        </p:txBody>
      </p:sp>
      <p:sp>
        <p:nvSpPr>
          <p:cNvPr id="5" name="Text 3"/>
          <p:cNvSpPr/>
          <p:nvPr/>
        </p:nvSpPr>
        <p:spPr>
          <a:xfrm>
            <a:off x="1143000" y="5991820"/>
            <a:ext cx="6475095" cy="624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spc="264" kern="0" dirty="0">
                <a:solidFill>
                  <a:srgbClr val="6F76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ROTATIONAL RPE INFLATION BEFORE CORRECTION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1143000" y="6921461"/>
            <a:ext cx="6286500" cy="9525"/>
          </a:xfrm>
          <a:prstGeom prst="rect">
            <a:avLst/>
          </a:prstGeom>
          <a:solidFill>
            <a:srgbClr val="D8D1C2"/>
          </a:solidFill>
          <a:ln/>
        </p:spPr>
      </p:sp>
      <p:sp>
        <p:nvSpPr>
          <p:cNvPr id="7" name="Text 5"/>
          <p:cNvSpPr/>
          <p:nvPr/>
        </p:nvSpPr>
        <p:spPr>
          <a:xfrm>
            <a:off x="1143000" y="7273886"/>
            <a:ext cx="1913573" cy="33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spc="264" kern="0" dirty="0">
                <a:solidFill>
                  <a:srgbClr val="6F76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RAW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1143000" y="7567256"/>
            <a:ext cx="1913573" cy="891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4800" i="1" dirty="0">
                <a:solidFill>
                  <a:srgbClr val="B14A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47°–63°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3247072" y="7273886"/>
            <a:ext cx="2238494" cy="33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spc="264" kern="0" dirty="0">
                <a:solidFill>
                  <a:srgbClr val="6F76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CORRECTED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3247072" y="7567256"/>
            <a:ext cx="2238494" cy="891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4800" i="1" dirty="0">
                <a:solidFill>
                  <a:srgbClr val="2A6F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1.0°–1.7°</a:t>
            </a:r>
            <a:endParaRPr lang="en-US" sz="4800" dirty="0"/>
          </a:p>
        </p:txBody>
      </p:sp>
      <p:sp>
        <p:nvSpPr>
          <p:cNvPr id="11" name="Text 9"/>
          <p:cNvSpPr/>
          <p:nvPr/>
        </p:nvSpPr>
        <p:spPr>
          <a:xfrm>
            <a:off x="8191500" y="2875717"/>
            <a:ext cx="9222105" cy="14268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700" dirty="0">
                <a:solidFill>
                  <a:srgbClr val="16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TUM VI mocap reports the pose of the IMU body in the world frame. Our VO emits the pose of the camera in the world frame.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8191500" y="4778812"/>
            <a:ext cx="9222105" cy="9761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2000"/>
              </a:lnSpc>
              <a:buNone/>
            </a:pPr>
            <a:r>
              <a:rPr lang="en-US" sz="2400" dirty="0">
                <a:solidFill>
                  <a:srgbClr val="16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two are related by the rigid extrinsic </a:t>
            </a:r>
            <a:pPr algn="l" indent="0" marL="0">
              <a:lnSpc>
                <a:spcPct val="142000"/>
              </a:lnSpc>
              <a:buNone/>
            </a:pPr>
            <a:r>
              <a:rPr lang="en-US" sz="2400" dirty="0">
                <a:solidFill>
                  <a:srgbClr val="161A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</a:t>
            </a:r>
            <a:pPr algn="l" indent="0" marL="0">
              <a:lnSpc>
                <a:spcPct val="142000"/>
              </a:lnSpc>
              <a:buNone/>
            </a:pPr>
            <a:r>
              <a:rPr lang="en-US" sz="2000" baseline="-40000" dirty="0">
                <a:solidFill>
                  <a:srgbClr val="161A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cam,imu </a:t>
            </a:r>
            <a:pPr algn="l" indent="0" marL="0">
              <a:lnSpc>
                <a:spcPct val="142000"/>
              </a:lnSpc>
              <a:buNone/>
            </a:pPr>
            <a:r>
              <a:rPr lang="en-US" sz="2400" dirty="0">
                <a:solidFill>
                  <a:srgbClr val="16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the camchain — on TUM VI, this is approximately a 180° rotation.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8191500" y="6536055"/>
            <a:ext cx="9222105" cy="26348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2000"/>
              </a:lnSpc>
              <a:buNone/>
            </a:pPr>
            <a:r>
              <a:rPr lang="en-US" sz="2400" dirty="0">
                <a:solidFill>
                  <a:srgbClr val="16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Without converting ground truth into the camera frame, the relative-pose residual carries a similarity-transform artefact that inflates rotational RPE by roughly an order of magnitude — even when the trajectory itself is correct. ATE is unaffected because Umeyama alignment absorbs any constant offset; RPE is local, so it cannot.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143000" y="9460230"/>
            <a:ext cx="5284438" cy="33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spc="132" kern="0" dirty="0">
                <a:solidFill>
                  <a:srgbClr val="6F76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Monocular to Stereo VO · TUM VI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16147376" y="9460230"/>
            <a:ext cx="1073825" cy="33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spc="132" kern="0" dirty="0">
                <a:solidFill>
                  <a:srgbClr val="6F76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 / 23</a:t>
            </a:r>
            <a:endParaRPr lang="en-US" sz="16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2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685800"/>
            <a:ext cx="16482060" cy="33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spc="264" kern="0" dirty="0">
                <a:solidFill>
                  <a:srgbClr val="6F76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 / EVALUATION PITFALLS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143000" y="1112520"/>
            <a:ext cx="14716125" cy="6963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800" spc="-48" kern="0" dirty="0">
                <a:solidFill>
                  <a:srgbClr val="161A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Pitfall II — Ground-Truth Coverage Gaps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1143000" y="2609017"/>
            <a:ext cx="9065133" cy="9639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700" dirty="0">
                <a:solidFill>
                  <a:srgbClr val="16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TUM VI motion capture only operates inside a fixed Vicon volume.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143000" y="3972997"/>
            <a:ext cx="9065133" cy="12349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2000"/>
              </a:lnSpc>
              <a:buNone/>
            </a:pPr>
            <a:r>
              <a:rPr lang="en-US" sz="2100" dirty="0">
                <a:solidFill>
                  <a:srgbClr val="16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Corridor3 the user leaves and re-enters the volume once, producing a </a:t>
            </a:r>
            <a:pPr algn="l" indent="0" marL="0">
              <a:lnSpc>
                <a:spcPct val="142000"/>
              </a:lnSpc>
              <a:buNone/>
            </a:pPr>
            <a:r>
              <a:rPr lang="en-US" sz="2100" dirty="0">
                <a:solidFill>
                  <a:srgbClr val="161A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230 s </a:t>
            </a:r>
            <a:pPr algn="l" indent="0" marL="0">
              <a:lnSpc>
                <a:spcPct val="142000"/>
              </a:lnSpc>
              <a:buNone/>
            </a:pPr>
            <a:r>
              <a:rPr lang="en-US" sz="2100" dirty="0">
                <a:solidFill>
                  <a:srgbClr val="16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mocap blackout. On Outdoors5 the user does the entire outdoor loop outside the volume — a </a:t>
            </a:r>
            <a:pPr algn="l" indent="0" marL="0">
              <a:lnSpc>
                <a:spcPct val="142000"/>
              </a:lnSpc>
              <a:buNone/>
            </a:pPr>
            <a:r>
              <a:rPr lang="en-US" sz="2100" dirty="0">
                <a:solidFill>
                  <a:srgbClr val="161A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749 s </a:t>
            </a:r>
            <a:pPr algn="l" indent="0" marL="0">
              <a:lnSpc>
                <a:spcPct val="142000"/>
              </a:lnSpc>
              <a:buNone/>
            </a:pPr>
            <a:r>
              <a:rPr lang="en-US" sz="2100" dirty="0">
                <a:solidFill>
                  <a:srgbClr val="16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blackout.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143000" y="5874663"/>
            <a:ext cx="9065133" cy="11739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2000"/>
              </a:lnSpc>
              <a:buNone/>
            </a:pPr>
            <a:r>
              <a:rPr lang="en-US" sz="2100" dirty="0">
                <a:solidFill>
                  <a:srgbClr val="16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single Umeyama alignment across that gap would align two indoor pose clusters that the VO knows are separated by roughly a kilometre of outdoor walking — minutes of drift absorbed into the residual.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143000" y="7715369"/>
            <a:ext cx="9065133" cy="7953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2000"/>
              </a:lnSpc>
              <a:buNone/>
            </a:pPr>
            <a:r>
              <a:rPr lang="en-US" sz="2100" b="1" dirty="0">
                <a:solidFill>
                  <a:srgbClr val="16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protocol. </a:t>
            </a:r>
            <a:pPr algn="l" indent="0" marL="0">
              <a:lnSpc>
                <a:spcPct val="142000"/>
              </a:lnSpc>
              <a:buNone/>
            </a:pPr>
            <a:r>
              <a:rPr lang="en-US" sz="2100" dirty="0">
                <a:solidFill>
                  <a:srgbClr val="16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Split matched pairs at Δt &gt; 5 s, run Umeyama and ATE per segment, threshold RPE pairs at Δt ≤ 1 s.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10477500" y="2609017"/>
            <a:ext cx="6667500" cy="6882765"/>
          </a:xfrm>
          <a:prstGeom prst="rect">
            <a:avLst/>
          </a:prstGeom>
          <a:solidFill>
            <a:srgbClr val="FFFFFF"/>
          </a:solidFill>
          <a:ln w="7620">
            <a:solidFill>
              <a:srgbClr val="D8D1C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866120" y="2959537"/>
            <a:ext cx="6066968" cy="33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spc="264" kern="0" dirty="0">
                <a:solidFill>
                  <a:srgbClr val="6F76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OUTDOORS5 · STEREO RPE-T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10866120" y="4113967"/>
            <a:ext cx="2564606" cy="624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spc="264" kern="0" dirty="0">
                <a:solidFill>
                  <a:srgbClr val="6F76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SINGLE UMEYAMA ACROSS GAP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10866120" y="4700707"/>
            <a:ext cx="2564606" cy="1264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6900" i="1" dirty="0">
                <a:solidFill>
                  <a:srgbClr val="B14A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2.90 m</a:t>
            </a:r>
            <a:endParaRPr lang="en-US" sz="6900" dirty="0"/>
          </a:p>
        </p:txBody>
      </p:sp>
      <p:sp>
        <p:nvSpPr>
          <p:cNvPr id="12" name="Text 10"/>
          <p:cNvSpPr/>
          <p:nvPr/>
        </p:nvSpPr>
        <p:spPr>
          <a:xfrm>
            <a:off x="13564077" y="4727377"/>
            <a:ext cx="570428" cy="624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3300" dirty="0">
                <a:solidFill>
                  <a:srgbClr val="6F76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⟶</a:t>
            </a:r>
            <a:endParaRPr lang="en-US" sz="3300" dirty="0"/>
          </a:p>
        </p:txBody>
      </p:sp>
      <p:sp>
        <p:nvSpPr>
          <p:cNvPr id="13" name="Text 11"/>
          <p:cNvSpPr/>
          <p:nvPr/>
        </p:nvSpPr>
        <p:spPr>
          <a:xfrm>
            <a:off x="14267855" y="3500557"/>
            <a:ext cx="2564725" cy="624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spc="264" kern="0" dirty="0">
                <a:solidFill>
                  <a:srgbClr val="6F76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GAP-AWARE PROTOCOL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14267855" y="4087297"/>
            <a:ext cx="2564725" cy="24917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6900" i="1" dirty="0">
                <a:solidFill>
                  <a:srgbClr val="2A6F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0.037 m</a:t>
            </a:r>
            <a:endParaRPr lang="en-US" sz="6900" dirty="0"/>
          </a:p>
        </p:txBody>
      </p:sp>
      <p:sp>
        <p:nvSpPr>
          <p:cNvPr id="15" name="Shape 13"/>
          <p:cNvSpPr/>
          <p:nvPr/>
        </p:nvSpPr>
        <p:spPr>
          <a:xfrm>
            <a:off x="10866120" y="6845737"/>
            <a:ext cx="5890260" cy="9525"/>
          </a:xfrm>
          <a:prstGeom prst="rect">
            <a:avLst/>
          </a:prstGeom>
          <a:solidFill>
            <a:srgbClr val="D8D1C2"/>
          </a:solidFill>
          <a:ln/>
        </p:spPr>
      </p:sp>
      <p:sp>
        <p:nvSpPr>
          <p:cNvPr id="16" name="Text 14"/>
          <p:cNvSpPr/>
          <p:nvPr/>
        </p:nvSpPr>
        <p:spPr>
          <a:xfrm>
            <a:off x="10866120" y="7160062"/>
            <a:ext cx="6066968" cy="1771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6F76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non-physical relative-pose pair — last-start-frame paired with first-end-frame, 12.5 minutes apart in real time but only 10 indices apart in the matched array — was injecting ≈ 45 m of relative-translation error into the RMSE single-handedly.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1143000" y="9460230"/>
            <a:ext cx="5284438" cy="33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spc="132" kern="0" dirty="0">
                <a:solidFill>
                  <a:srgbClr val="6F76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Monocular to Stereo VO · TUM VI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16147376" y="9460230"/>
            <a:ext cx="1073825" cy="33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spc="132" kern="0" dirty="0">
                <a:solidFill>
                  <a:srgbClr val="6F76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 / 23</a:t>
            </a:r>
            <a:endParaRPr lang="en-US" sz="16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2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685800"/>
            <a:ext cx="16482060" cy="33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spc="264" kern="0" dirty="0">
                <a:solidFill>
                  <a:srgbClr val="6F76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 / RESULTS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143000" y="1112520"/>
            <a:ext cx="14716125" cy="6963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800" spc="-48" kern="0" dirty="0">
                <a:solidFill>
                  <a:srgbClr val="161A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Tracking Robustness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1143000" y="3748207"/>
            <a:ext cx="1499354" cy="15240"/>
          </a:xfrm>
          <a:prstGeom prst="rect">
            <a:avLst/>
          </a:prstGeom>
          <a:solidFill>
            <a:srgbClr val="161A24"/>
          </a:solidFill>
          <a:ln/>
        </p:spPr>
      </p:sp>
      <p:sp>
        <p:nvSpPr>
          <p:cNvPr id="5" name="Text 3"/>
          <p:cNvSpPr/>
          <p:nvPr/>
        </p:nvSpPr>
        <p:spPr>
          <a:xfrm>
            <a:off x="1314450" y="2742367"/>
            <a:ext cx="1232654" cy="9105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spc="132" kern="0" dirty="0">
                <a:solidFill>
                  <a:srgbClr val="6F76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SEQUENCE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2642354" y="3748207"/>
            <a:ext cx="1234678" cy="15240"/>
          </a:xfrm>
          <a:prstGeom prst="rect">
            <a:avLst/>
          </a:prstGeom>
          <a:solidFill>
            <a:srgbClr val="161A24"/>
          </a:solidFill>
          <a:ln/>
        </p:spPr>
      </p:sp>
      <p:sp>
        <p:nvSpPr>
          <p:cNvPr id="7" name="Text 5"/>
          <p:cNvSpPr/>
          <p:nvPr/>
        </p:nvSpPr>
        <p:spPr>
          <a:xfrm>
            <a:off x="2813804" y="2742367"/>
            <a:ext cx="967978" cy="9105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spc="132" kern="0" dirty="0">
                <a:solidFill>
                  <a:srgbClr val="6F76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FRAMES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3877032" y="3748207"/>
            <a:ext cx="1291114" cy="15240"/>
          </a:xfrm>
          <a:prstGeom prst="rect">
            <a:avLst/>
          </a:prstGeom>
          <a:solidFill>
            <a:srgbClr val="161A24"/>
          </a:solidFill>
          <a:ln/>
        </p:spPr>
      </p:sp>
      <p:sp>
        <p:nvSpPr>
          <p:cNvPr id="9" name="Text 7"/>
          <p:cNvSpPr/>
          <p:nvPr/>
        </p:nvSpPr>
        <p:spPr>
          <a:xfrm>
            <a:off x="4048482" y="2742367"/>
            <a:ext cx="1024414" cy="9105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spc="132" kern="0" dirty="0">
                <a:solidFill>
                  <a:srgbClr val="6F76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MONO HARD-SKIP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>
            <a:off x="5168146" y="3748207"/>
            <a:ext cx="1416367" cy="15240"/>
          </a:xfrm>
          <a:prstGeom prst="rect">
            <a:avLst/>
          </a:prstGeom>
          <a:solidFill>
            <a:srgbClr val="161A24"/>
          </a:solidFill>
          <a:ln/>
        </p:spPr>
      </p:sp>
      <p:sp>
        <p:nvSpPr>
          <p:cNvPr id="11" name="Text 9"/>
          <p:cNvSpPr/>
          <p:nvPr/>
        </p:nvSpPr>
        <p:spPr>
          <a:xfrm>
            <a:off x="5339596" y="2742367"/>
            <a:ext cx="1149667" cy="9105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spc="132" kern="0" dirty="0">
                <a:solidFill>
                  <a:srgbClr val="6F76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STEREO HARD-SKIP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6584514" y="3748207"/>
            <a:ext cx="1416487" cy="15240"/>
          </a:xfrm>
          <a:prstGeom prst="rect">
            <a:avLst/>
          </a:prstGeom>
          <a:solidFill>
            <a:srgbClr val="161A24"/>
          </a:solidFill>
          <a:ln/>
        </p:spPr>
      </p:sp>
      <p:sp>
        <p:nvSpPr>
          <p:cNvPr id="13" name="Text 11"/>
          <p:cNvSpPr/>
          <p:nvPr/>
        </p:nvSpPr>
        <p:spPr>
          <a:xfrm>
            <a:off x="6755964" y="2742367"/>
            <a:ext cx="1149787" cy="9105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spc="132" kern="0" dirty="0">
                <a:solidFill>
                  <a:srgbClr val="6F76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STEREO SOFT-FLAG</a:t>
            </a:r>
            <a:endParaRPr lang="en-US" sz="1650" dirty="0"/>
          </a:p>
        </p:txBody>
      </p:sp>
      <p:sp>
        <p:nvSpPr>
          <p:cNvPr id="14" name="Shape 12"/>
          <p:cNvSpPr/>
          <p:nvPr/>
        </p:nvSpPr>
        <p:spPr>
          <a:xfrm>
            <a:off x="1143000" y="5089327"/>
            <a:ext cx="6858000" cy="9525"/>
          </a:xfrm>
          <a:prstGeom prst="rect">
            <a:avLst/>
          </a:prstGeom>
          <a:solidFill>
            <a:srgbClr val="D8D1C2"/>
          </a:solidFill>
          <a:ln/>
        </p:spPr>
      </p:sp>
      <p:sp>
        <p:nvSpPr>
          <p:cNvPr id="15" name="Text 13"/>
          <p:cNvSpPr/>
          <p:nvPr/>
        </p:nvSpPr>
        <p:spPr>
          <a:xfrm>
            <a:off x="1314450" y="3896797"/>
            <a:ext cx="1232654" cy="1104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6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Room2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2813804" y="3896797"/>
            <a:ext cx="967978" cy="1104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61A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2,882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4048482" y="3896797"/>
            <a:ext cx="1024414" cy="1104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B14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137 (4.8 %)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5339596" y="3896797"/>
            <a:ext cx="1149667" cy="1104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2A6F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 (0.0 %)</a:t>
            </a:r>
            <a:endParaRPr lang="en-US" sz="1950" dirty="0"/>
          </a:p>
        </p:txBody>
      </p:sp>
      <p:sp>
        <p:nvSpPr>
          <p:cNvPr id="19" name="Text 17"/>
          <p:cNvSpPr/>
          <p:nvPr/>
        </p:nvSpPr>
        <p:spPr>
          <a:xfrm>
            <a:off x="6755964" y="3896797"/>
            <a:ext cx="1149787" cy="1104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61A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(0.0 %)</a:t>
            </a:r>
            <a:endParaRPr lang="en-US" sz="1950" dirty="0"/>
          </a:p>
        </p:txBody>
      </p:sp>
      <p:sp>
        <p:nvSpPr>
          <p:cNvPr id="20" name="Shape 18"/>
          <p:cNvSpPr/>
          <p:nvPr/>
        </p:nvSpPr>
        <p:spPr>
          <a:xfrm>
            <a:off x="1143000" y="6419017"/>
            <a:ext cx="6858000" cy="9525"/>
          </a:xfrm>
          <a:prstGeom prst="rect">
            <a:avLst/>
          </a:prstGeom>
          <a:solidFill>
            <a:srgbClr val="D8D1C2"/>
          </a:solidFill>
          <a:ln/>
        </p:spPr>
      </p:sp>
      <p:sp>
        <p:nvSpPr>
          <p:cNvPr id="21" name="Text 19"/>
          <p:cNvSpPr/>
          <p:nvPr/>
        </p:nvSpPr>
        <p:spPr>
          <a:xfrm>
            <a:off x="1314450" y="5230296"/>
            <a:ext cx="1232654" cy="11010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6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Corridor3</a:t>
            </a:r>
            <a:endParaRPr lang="en-US" sz="1950" dirty="0"/>
          </a:p>
        </p:txBody>
      </p:sp>
      <p:sp>
        <p:nvSpPr>
          <p:cNvPr id="22" name="Text 20"/>
          <p:cNvSpPr/>
          <p:nvPr/>
        </p:nvSpPr>
        <p:spPr>
          <a:xfrm>
            <a:off x="2813804" y="5230296"/>
            <a:ext cx="967978" cy="11010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61A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5,802</a:t>
            </a:r>
            <a:endParaRPr lang="en-US" sz="1950" dirty="0"/>
          </a:p>
        </p:txBody>
      </p:sp>
      <p:sp>
        <p:nvSpPr>
          <p:cNvPr id="23" name="Text 21"/>
          <p:cNvSpPr/>
          <p:nvPr/>
        </p:nvSpPr>
        <p:spPr>
          <a:xfrm>
            <a:off x="4048482" y="5230296"/>
            <a:ext cx="1024414" cy="11010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B14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275 (4.7 %)</a:t>
            </a:r>
            <a:endParaRPr lang="en-US" sz="1950" dirty="0"/>
          </a:p>
        </p:txBody>
      </p:sp>
      <p:sp>
        <p:nvSpPr>
          <p:cNvPr id="24" name="Text 22"/>
          <p:cNvSpPr/>
          <p:nvPr/>
        </p:nvSpPr>
        <p:spPr>
          <a:xfrm>
            <a:off x="5339596" y="5230296"/>
            <a:ext cx="1149667" cy="11010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2A6F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 (0.0 %)</a:t>
            </a:r>
            <a:endParaRPr lang="en-US" sz="1950" dirty="0"/>
          </a:p>
        </p:txBody>
      </p:sp>
      <p:sp>
        <p:nvSpPr>
          <p:cNvPr id="25" name="Text 23"/>
          <p:cNvSpPr/>
          <p:nvPr/>
        </p:nvSpPr>
        <p:spPr>
          <a:xfrm>
            <a:off x="6755964" y="5230296"/>
            <a:ext cx="1149787" cy="11010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61A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 (0.3 %)</a:t>
            </a:r>
            <a:endParaRPr lang="en-US" sz="1950" dirty="0"/>
          </a:p>
        </p:txBody>
      </p:sp>
      <p:sp>
        <p:nvSpPr>
          <p:cNvPr id="26" name="Shape 24"/>
          <p:cNvSpPr/>
          <p:nvPr/>
        </p:nvSpPr>
        <p:spPr>
          <a:xfrm>
            <a:off x="1143000" y="7752517"/>
            <a:ext cx="6858000" cy="9525"/>
          </a:xfrm>
          <a:prstGeom prst="rect">
            <a:avLst/>
          </a:prstGeom>
          <a:solidFill>
            <a:srgbClr val="D8D1C2"/>
          </a:solidFill>
          <a:ln/>
        </p:spPr>
      </p:sp>
      <p:sp>
        <p:nvSpPr>
          <p:cNvPr id="27" name="Text 25"/>
          <p:cNvSpPr/>
          <p:nvPr/>
        </p:nvSpPr>
        <p:spPr>
          <a:xfrm>
            <a:off x="1314450" y="6559987"/>
            <a:ext cx="1232654" cy="1104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6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Outdoors5</a:t>
            </a:r>
            <a:endParaRPr lang="en-US" sz="1950" dirty="0"/>
          </a:p>
        </p:txBody>
      </p:sp>
      <p:sp>
        <p:nvSpPr>
          <p:cNvPr id="28" name="Text 26"/>
          <p:cNvSpPr/>
          <p:nvPr/>
        </p:nvSpPr>
        <p:spPr>
          <a:xfrm>
            <a:off x="2813804" y="6559987"/>
            <a:ext cx="967978" cy="1104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61A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17,747</a:t>
            </a:r>
            <a:endParaRPr lang="en-US" sz="1950" dirty="0"/>
          </a:p>
        </p:txBody>
      </p:sp>
      <p:sp>
        <p:nvSpPr>
          <p:cNvPr id="29" name="Text 27"/>
          <p:cNvSpPr/>
          <p:nvPr/>
        </p:nvSpPr>
        <p:spPr>
          <a:xfrm>
            <a:off x="4048482" y="6559987"/>
            <a:ext cx="1024414" cy="1104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B14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2,325 (13.1 %)</a:t>
            </a:r>
            <a:endParaRPr lang="en-US" sz="1950" dirty="0"/>
          </a:p>
        </p:txBody>
      </p:sp>
      <p:sp>
        <p:nvSpPr>
          <p:cNvPr id="30" name="Text 28"/>
          <p:cNvSpPr/>
          <p:nvPr/>
        </p:nvSpPr>
        <p:spPr>
          <a:xfrm>
            <a:off x="5339596" y="6559987"/>
            <a:ext cx="1149667" cy="1104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2A6F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 (0.1 %)</a:t>
            </a:r>
            <a:endParaRPr lang="en-US" sz="1950" dirty="0"/>
          </a:p>
        </p:txBody>
      </p:sp>
      <p:sp>
        <p:nvSpPr>
          <p:cNvPr id="31" name="Text 29"/>
          <p:cNvSpPr/>
          <p:nvPr/>
        </p:nvSpPr>
        <p:spPr>
          <a:xfrm>
            <a:off x="6755964" y="6559987"/>
            <a:ext cx="1149787" cy="1104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61A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168 (0.9 %)</a:t>
            </a:r>
            <a:endParaRPr lang="en-US" sz="1950" dirty="0"/>
          </a:p>
        </p:txBody>
      </p:sp>
      <p:sp>
        <p:nvSpPr>
          <p:cNvPr id="32" name="Shape 30"/>
          <p:cNvSpPr/>
          <p:nvPr/>
        </p:nvSpPr>
        <p:spPr>
          <a:xfrm>
            <a:off x="1143000" y="7760137"/>
            <a:ext cx="6858000" cy="15240"/>
          </a:xfrm>
          <a:prstGeom prst="rect">
            <a:avLst/>
          </a:prstGeom>
          <a:solidFill>
            <a:srgbClr val="161A24"/>
          </a:solidFill>
          <a:ln/>
        </p:spPr>
      </p:sp>
      <p:sp>
        <p:nvSpPr>
          <p:cNvPr id="33" name="Text 31"/>
          <p:cNvSpPr/>
          <p:nvPr/>
        </p:nvSpPr>
        <p:spPr>
          <a:xfrm>
            <a:off x="1314450" y="7893487"/>
            <a:ext cx="1232654" cy="1085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6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</a:t>
            </a:r>
            <a:endParaRPr lang="en-US" sz="1950" dirty="0"/>
          </a:p>
        </p:txBody>
      </p:sp>
      <p:sp>
        <p:nvSpPr>
          <p:cNvPr id="34" name="Text 32"/>
          <p:cNvSpPr/>
          <p:nvPr/>
        </p:nvSpPr>
        <p:spPr>
          <a:xfrm>
            <a:off x="2813804" y="7893487"/>
            <a:ext cx="967978" cy="1085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61A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26,431</a:t>
            </a:r>
            <a:endParaRPr lang="en-US" sz="1950" dirty="0"/>
          </a:p>
        </p:txBody>
      </p:sp>
      <p:sp>
        <p:nvSpPr>
          <p:cNvPr id="35" name="Text 33"/>
          <p:cNvSpPr/>
          <p:nvPr/>
        </p:nvSpPr>
        <p:spPr>
          <a:xfrm>
            <a:off x="4048482" y="7893487"/>
            <a:ext cx="1024414" cy="1085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B14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2,737 (10.4 %)</a:t>
            </a:r>
            <a:endParaRPr lang="en-US" sz="1950" dirty="0"/>
          </a:p>
        </p:txBody>
      </p:sp>
      <p:sp>
        <p:nvSpPr>
          <p:cNvPr id="36" name="Text 34"/>
          <p:cNvSpPr/>
          <p:nvPr/>
        </p:nvSpPr>
        <p:spPr>
          <a:xfrm>
            <a:off x="5339596" y="7893487"/>
            <a:ext cx="1149667" cy="1085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2A6F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 (0.0 %)</a:t>
            </a:r>
            <a:endParaRPr lang="en-US" sz="1950" dirty="0"/>
          </a:p>
        </p:txBody>
      </p:sp>
      <p:sp>
        <p:nvSpPr>
          <p:cNvPr id="37" name="Text 35"/>
          <p:cNvSpPr/>
          <p:nvPr/>
        </p:nvSpPr>
        <p:spPr>
          <a:xfrm>
            <a:off x="6755964" y="7893487"/>
            <a:ext cx="1149787" cy="1085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61A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188 (0.7 %)</a:t>
            </a:r>
            <a:endParaRPr lang="en-US" sz="1950" dirty="0"/>
          </a:p>
        </p:txBody>
      </p:sp>
      <p:sp>
        <p:nvSpPr>
          <p:cNvPr id="38" name="Text 36"/>
          <p:cNvSpPr/>
          <p:nvPr/>
        </p:nvSpPr>
        <p:spPr>
          <a:xfrm>
            <a:off x="8534400" y="2609017"/>
            <a:ext cx="8868918" cy="9639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700" dirty="0">
                <a:solidFill>
                  <a:srgbClr val="16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Stereo hard-skip stays at or below 0.1 % on every sequence.</a:t>
            </a:r>
            <a:endParaRPr lang="en-US" sz="2700" dirty="0"/>
          </a:p>
        </p:txBody>
      </p:sp>
      <p:sp>
        <p:nvSpPr>
          <p:cNvPr id="39" name="Text 37"/>
          <p:cNvSpPr/>
          <p:nvPr/>
        </p:nvSpPr>
        <p:spPr>
          <a:xfrm>
            <a:off x="8534400" y="3972997"/>
            <a:ext cx="8868918" cy="11739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2000"/>
              </a:lnSpc>
              <a:buNone/>
            </a:pPr>
            <a:r>
              <a:rPr lang="en-US" sz="2100" dirty="0">
                <a:solidFill>
                  <a:srgbClr val="16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Monocular fails on near-pure-rotation segments where parallax is too small for the five-point essential matrix to recover translation — on Outdoors5, more than one frame in eight.</a:t>
            </a:r>
            <a:endParaRPr lang="en-US" sz="2100" dirty="0"/>
          </a:p>
        </p:txBody>
      </p:sp>
      <p:sp>
        <p:nvSpPr>
          <p:cNvPr id="40" name="Text 38"/>
          <p:cNvSpPr/>
          <p:nvPr/>
        </p:nvSpPr>
        <p:spPr>
          <a:xfrm>
            <a:off x="8534400" y="5813703"/>
            <a:ext cx="8868918" cy="11739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2000"/>
              </a:lnSpc>
              <a:buNone/>
            </a:pPr>
            <a:r>
              <a:rPr lang="en-US" sz="2100" dirty="0">
                <a:solidFill>
                  <a:srgbClr val="16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Stereo's robustness is a direct consequence of the forward–backward consistency check: bad tracks are removed </a:t>
            </a:r>
            <a:pPr algn="l" indent="0" marL="0">
              <a:lnSpc>
                <a:spcPct val="142000"/>
              </a:lnSpc>
              <a:buNone/>
            </a:pPr>
            <a:r>
              <a:rPr lang="en-US" sz="2100" i="1" dirty="0">
                <a:solidFill>
                  <a:srgbClr val="16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</a:t>
            </a:r>
            <a:pPr algn="l" indent="0" marL="0">
              <a:lnSpc>
                <a:spcPct val="142000"/>
              </a:lnSpc>
              <a:buNone/>
            </a:pPr>
            <a:r>
              <a:rPr lang="en-US" sz="2100" dirty="0">
                <a:solidFill>
                  <a:srgbClr val="16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RANSAC, rather than discovered as outliers </a:t>
            </a:r>
            <a:pPr algn="l" indent="0" marL="0">
              <a:lnSpc>
                <a:spcPct val="142000"/>
              </a:lnSpc>
              <a:buNone/>
            </a:pPr>
            <a:r>
              <a:rPr lang="en-US" sz="2100" i="1" dirty="0">
                <a:solidFill>
                  <a:srgbClr val="16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</a:t>
            </a:r>
            <a:pPr algn="l" indent="0" marL="0">
              <a:lnSpc>
                <a:spcPct val="142000"/>
              </a:lnSpc>
              <a:buNone/>
            </a:pPr>
            <a:r>
              <a:rPr lang="en-US" sz="2100" dirty="0">
                <a:solidFill>
                  <a:srgbClr val="16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RANSAC.</a:t>
            </a:r>
            <a:endParaRPr lang="en-US" sz="2100" dirty="0"/>
          </a:p>
        </p:txBody>
      </p:sp>
      <p:sp>
        <p:nvSpPr>
          <p:cNvPr id="41" name="Text 39"/>
          <p:cNvSpPr/>
          <p:nvPr/>
        </p:nvSpPr>
        <p:spPr>
          <a:xfrm>
            <a:off x="8534400" y="7654409"/>
            <a:ext cx="8868918" cy="7953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2000"/>
              </a:lnSpc>
              <a:buNone/>
            </a:pPr>
            <a:r>
              <a:rPr lang="en-US" sz="2100" dirty="0">
                <a:solidFill>
                  <a:srgbClr val="16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borderline frame is auditable in a per-frame status CSV — nothing is silently absorbed.</a:t>
            </a:r>
            <a:endParaRPr lang="en-US" sz="2100" dirty="0"/>
          </a:p>
        </p:txBody>
      </p:sp>
      <p:sp>
        <p:nvSpPr>
          <p:cNvPr id="42" name="Shape 40"/>
          <p:cNvSpPr/>
          <p:nvPr/>
        </p:nvSpPr>
        <p:spPr>
          <a:xfrm>
            <a:off x="8534400" y="8925996"/>
            <a:ext cx="550307" cy="461010"/>
          </a:xfrm>
          <a:prstGeom prst="roundRect">
            <a:avLst>
              <a:gd name="adj" fmla="val 8264"/>
            </a:avLst>
          </a:prstGeom>
          <a:solidFill>
            <a:srgbClr val="FFFFFF"/>
          </a:solidFill>
          <a:ln w="7620">
            <a:solidFill>
              <a:srgbClr val="2A6F4F">
                <a:alpha val="4000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675370" y="9009816"/>
            <a:ext cx="344567" cy="33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spc="66" kern="0" dirty="0">
                <a:solidFill>
                  <a:srgbClr val="2A6F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OK</a:t>
            </a:r>
            <a:endParaRPr lang="en-US" sz="1650" dirty="0"/>
          </a:p>
        </p:txBody>
      </p:sp>
      <p:sp>
        <p:nvSpPr>
          <p:cNvPr id="44" name="Shape 42"/>
          <p:cNvSpPr/>
          <p:nvPr/>
        </p:nvSpPr>
        <p:spPr>
          <a:xfrm>
            <a:off x="9237107" y="8925996"/>
            <a:ext cx="2293977" cy="461010"/>
          </a:xfrm>
          <a:prstGeom prst="roundRect">
            <a:avLst>
              <a:gd name="adj" fmla="val 8264"/>
            </a:avLst>
          </a:prstGeom>
          <a:solidFill>
            <a:srgbClr val="FFFFFF"/>
          </a:solidFill>
          <a:ln w="7620">
            <a:solidFill>
              <a:srgbClr val="B68420">
                <a:alpha val="4500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9378077" y="9009816"/>
            <a:ext cx="2088237" cy="33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spc="66" kern="0" dirty="0">
                <a:solidFill>
                  <a:srgbClr val="B684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REPROJ_LOW_CONF</a:t>
            </a:r>
            <a:endParaRPr lang="en-US" sz="1650" dirty="0"/>
          </a:p>
        </p:txBody>
      </p:sp>
      <p:sp>
        <p:nvSpPr>
          <p:cNvPr id="46" name="Shape 44"/>
          <p:cNvSpPr/>
          <p:nvPr/>
        </p:nvSpPr>
        <p:spPr>
          <a:xfrm>
            <a:off x="11683485" y="8925996"/>
            <a:ext cx="1623298" cy="461010"/>
          </a:xfrm>
          <a:prstGeom prst="roundRect">
            <a:avLst>
              <a:gd name="adj" fmla="val 8264"/>
            </a:avLst>
          </a:prstGeom>
          <a:solidFill>
            <a:srgbClr val="FFFFFF"/>
          </a:solidFill>
          <a:ln w="7620">
            <a:solidFill>
              <a:srgbClr val="B14A33">
                <a:alpha val="4500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1824455" y="9009816"/>
            <a:ext cx="1417558" cy="33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spc="66" kern="0" dirty="0">
                <a:solidFill>
                  <a:srgbClr val="B14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TRACK_FAIL</a:t>
            </a:r>
            <a:endParaRPr lang="en-US" sz="1650" dirty="0"/>
          </a:p>
        </p:txBody>
      </p:sp>
      <p:sp>
        <p:nvSpPr>
          <p:cNvPr id="48" name="Shape 46"/>
          <p:cNvSpPr/>
          <p:nvPr/>
        </p:nvSpPr>
        <p:spPr>
          <a:xfrm>
            <a:off x="13459182" y="8925996"/>
            <a:ext cx="1355050" cy="461010"/>
          </a:xfrm>
          <a:prstGeom prst="roundRect">
            <a:avLst>
              <a:gd name="adj" fmla="val 8264"/>
            </a:avLst>
          </a:prstGeom>
          <a:solidFill>
            <a:srgbClr val="FFFFFF"/>
          </a:solidFill>
          <a:ln w="7620">
            <a:solidFill>
              <a:srgbClr val="B14A33">
                <a:alpha val="45000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3600152" y="9009816"/>
            <a:ext cx="1149310" cy="33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spc="66" kern="0" dirty="0">
                <a:solidFill>
                  <a:srgbClr val="B14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PNP_FAIL</a:t>
            </a:r>
            <a:endParaRPr lang="en-US" sz="1650" dirty="0"/>
          </a:p>
        </p:txBody>
      </p:sp>
      <p:sp>
        <p:nvSpPr>
          <p:cNvPr id="50" name="Text 48"/>
          <p:cNvSpPr/>
          <p:nvPr/>
        </p:nvSpPr>
        <p:spPr>
          <a:xfrm>
            <a:off x="1143000" y="9460230"/>
            <a:ext cx="5284438" cy="33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spc="132" kern="0" dirty="0">
                <a:solidFill>
                  <a:srgbClr val="6F76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Monocular to Stereo VO · TUM VI</a:t>
            </a:r>
            <a:endParaRPr lang="en-US" sz="1650" dirty="0"/>
          </a:p>
        </p:txBody>
      </p:sp>
      <p:sp>
        <p:nvSpPr>
          <p:cNvPr id="51" name="Text 49"/>
          <p:cNvSpPr/>
          <p:nvPr/>
        </p:nvSpPr>
        <p:spPr>
          <a:xfrm>
            <a:off x="16147376" y="9460230"/>
            <a:ext cx="1073825" cy="33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spc="132" kern="0" dirty="0">
                <a:solidFill>
                  <a:srgbClr val="6F76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 / 23</a:t>
            </a:r>
            <a:endParaRPr lang="en-US" sz="16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2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685800"/>
            <a:ext cx="16482060" cy="33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spc="264" kern="0" dirty="0">
                <a:solidFill>
                  <a:srgbClr val="6F76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 / RESULTS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143000" y="1112520"/>
            <a:ext cx="14716125" cy="6963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800" spc="-48" kern="0" dirty="0">
                <a:solidFill>
                  <a:srgbClr val="161A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Headline Results — Gap-Aware Protocol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1143000" y="2075617"/>
            <a:ext cx="16002000" cy="9525"/>
          </a:xfrm>
          <a:prstGeom prst="rect">
            <a:avLst/>
          </a:prstGeom>
          <a:solidFill>
            <a:srgbClr val="D8D1C2"/>
          </a:solidFill>
          <a:ln/>
        </p:spPr>
      </p:sp>
      <p:sp>
        <p:nvSpPr>
          <p:cNvPr id="5" name="Shape 3"/>
          <p:cNvSpPr/>
          <p:nvPr/>
        </p:nvSpPr>
        <p:spPr>
          <a:xfrm>
            <a:off x="1143000" y="3056692"/>
            <a:ext cx="1905000" cy="15240"/>
          </a:xfrm>
          <a:prstGeom prst="rect">
            <a:avLst/>
          </a:prstGeom>
          <a:solidFill>
            <a:srgbClr val="161A24"/>
          </a:solidFill>
          <a:ln/>
        </p:spPr>
      </p:sp>
      <p:sp>
        <p:nvSpPr>
          <p:cNvPr id="6" name="Text 4"/>
          <p:cNvSpPr/>
          <p:nvPr/>
        </p:nvSpPr>
        <p:spPr>
          <a:xfrm>
            <a:off x="1314450" y="2637592"/>
            <a:ext cx="163830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spc="132" kern="0" dirty="0">
                <a:solidFill>
                  <a:srgbClr val="6F76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SEQUENCE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3048000" y="3056692"/>
            <a:ext cx="1751409" cy="15240"/>
          </a:xfrm>
          <a:prstGeom prst="rect">
            <a:avLst/>
          </a:prstGeom>
          <a:solidFill>
            <a:srgbClr val="161A24"/>
          </a:solidFill>
          <a:ln/>
        </p:spPr>
      </p:sp>
      <p:sp>
        <p:nvSpPr>
          <p:cNvPr id="8" name="Text 6"/>
          <p:cNvSpPr/>
          <p:nvPr/>
        </p:nvSpPr>
        <p:spPr>
          <a:xfrm>
            <a:off x="3219450" y="2637592"/>
            <a:ext cx="1484709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spc="132" kern="0" dirty="0">
                <a:solidFill>
                  <a:srgbClr val="6F76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4799409" y="3056692"/>
            <a:ext cx="2454116" cy="15240"/>
          </a:xfrm>
          <a:prstGeom prst="rect">
            <a:avLst/>
          </a:prstGeom>
          <a:solidFill>
            <a:srgbClr val="161A24"/>
          </a:solidFill>
          <a:ln/>
        </p:spPr>
      </p:sp>
      <p:sp>
        <p:nvSpPr>
          <p:cNvPr id="10" name="Text 8"/>
          <p:cNvSpPr/>
          <p:nvPr/>
        </p:nvSpPr>
        <p:spPr>
          <a:xfrm>
            <a:off x="4970859" y="2637592"/>
            <a:ext cx="2187416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spc="132" kern="0" dirty="0">
                <a:solidFill>
                  <a:srgbClr val="6F76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ATE SEG (M)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7253526" y="3056692"/>
            <a:ext cx="2088118" cy="15240"/>
          </a:xfrm>
          <a:prstGeom prst="rect">
            <a:avLst/>
          </a:prstGeom>
          <a:solidFill>
            <a:srgbClr val="161A24"/>
          </a:solidFill>
          <a:ln/>
        </p:spPr>
      </p:sp>
      <p:sp>
        <p:nvSpPr>
          <p:cNvPr id="12" name="Text 10"/>
          <p:cNvSpPr/>
          <p:nvPr/>
        </p:nvSpPr>
        <p:spPr>
          <a:xfrm>
            <a:off x="7424976" y="2637592"/>
            <a:ext cx="1821418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spc="132" kern="0" dirty="0">
                <a:solidFill>
                  <a:srgbClr val="6F76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RPE-T (M)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9341644" y="3056692"/>
            <a:ext cx="2088118" cy="15240"/>
          </a:xfrm>
          <a:prstGeom prst="rect">
            <a:avLst/>
          </a:prstGeom>
          <a:solidFill>
            <a:srgbClr val="161A24"/>
          </a:solidFill>
          <a:ln/>
        </p:spPr>
      </p:sp>
      <p:sp>
        <p:nvSpPr>
          <p:cNvPr id="14" name="Text 12"/>
          <p:cNvSpPr/>
          <p:nvPr/>
        </p:nvSpPr>
        <p:spPr>
          <a:xfrm>
            <a:off x="9513094" y="2637592"/>
            <a:ext cx="1821418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spc="132" kern="0" dirty="0">
                <a:solidFill>
                  <a:srgbClr val="6F76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RPE-R (°)</a:t>
            </a:r>
            <a:endParaRPr lang="en-US" sz="1650" dirty="0"/>
          </a:p>
        </p:txBody>
      </p:sp>
      <p:sp>
        <p:nvSpPr>
          <p:cNvPr id="15" name="Shape 13"/>
          <p:cNvSpPr/>
          <p:nvPr/>
        </p:nvSpPr>
        <p:spPr>
          <a:xfrm>
            <a:off x="11429762" y="3056692"/>
            <a:ext cx="2088118" cy="15240"/>
          </a:xfrm>
          <a:prstGeom prst="rect">
            <a:avLst/>
          </a:prstGeom>
          <a:solidFill>
            <a:srgbClr val="161A24"/>
          </a:solidFill>
          <a:ln/>
        </p:spPr>
      </p:sp>
      <p:sp>
        <p:nvSpPr>
          <p:cNvPr id="16" name="Text 14"/>
          <p:cNvSpPr/>
          <p:nvPr/>
        </p:nvSpPr>
        <p:spPr>
          <a:xfrm>
            <a:off x="11601212" y="2637592"/>
            <a:ext cx="1821418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spc="132" kern="0" dirty="0">
                <a:solidFill>
                  <a:srgbClr val="6F76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DRIFT (M)</a:t>
            </a:r>
            <a:endParaRPr lang="en-US" sz="1650" dirty="0"/>
          </a:p>
        </p:txBody>
      </p:sp>
      <p:sp>
        <p:nvSpPr>
          <p:cNvPr id="17" name="Shape 15"/>
          <p:cNvSpPr/>
          <p:nvPr/>
        </p:nvSpPr>
        <p:spPr>
          <a:xfrm>
            <a:off x="13517881" y="3056692"/>
            <a:ext cx="1721882" cy="15240"/>
          </a:xfrm>
          <a:prstGeom prst="rect">
            <a:avLst/>
          </a:prstGeom>
          <a:solidFill>
            <a:srgbClr val="161A24"/>
          </a:solidFill>
          <a:ln/>
        </p:spPr>
      </p:sp>
      <p:sp>
        <p:nvSpPr>
          <p:cNvPr id="18" name="Text 16"/>
          <p:cNvSpPr/>
          <p:nvPr/>
        </p:nvSpPr>
        <p:spPr>
          <a:xfrm>
            <a:off x="13689331" y="2637592"/>
            <a:ext cx="1455182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spc="132" kern="0" dirty="0">
                <a:solidFill>
                  <a:srgbClr val="6F76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DRIFT %</a:t>
            </a:r>
            <a:endParaRPr lang="en-US" sz="1650" dirty="0"/>
          </a:p>
        </p:txBody>
      </p:sp>
      <p:sp>
        <p:nvSpPr>
          <p:cNvPr id="19" name="Shape 17"/>
          <p:cNvSpPr/>
          <p:nvPr/>
        </p:nvSpPr>
        <p:spPr>
          <a:xfrm>
            <a:off x="15239762" y="3056692"/>
            <a:ext cx="1905238" cy="15240"/>
          </a:xfrm>
          <a:prstGeom prst="rect">
            <a:avLst/>
          </a:prstGeom>
          <a:solidFill>
            <a:srgbClr val="161A24"/>
          </a:solidFill>
          <a:ln/>
        </p:spPr>
      </p:sp>
      <p:sp>
        <p:nvSpPr>
          <p:cNvPr id="20" name="Text 18"/>
          <p:cNvSpPr/>
          <p:nvPr/>
        </p:nvSpPr>
        <p:spPr>
          <a:xfrm>
            <a:off x="15411212" y="2637592"/>
            <a:ext cx="1638538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spc="132" kern="0" dirty="0">
                <a:solidFill>
                  <a:srgbClr val="6F76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PATH (M)</a:t>
            </a:r>
            <a:endParaRPr lang="en-US" sz="1650" dirty="0"/>
          </a:p>
        </p:txBody>
      </p:sp>
      <p:sp>
        <p:nvSpPr>
          <p:cNvPr id="21" name="Shape 19"/>
          <p:cNvSpPr/>
          <p:nvPr/>
        </p:nvSpPr>
        <p:spPr>
          <a:xfrm>
            <a:off x="1143000" y="3712012"/>
            <a:ext cx="16002000" cy="9525"/>
          </a:xfrm>
          <a:prstGeom prst="rect">
            <a:avLst/>
          </a:prstGeom>
          <a:solidFill>
            <a:srgbClr val="D8D1C2"/>
          </a:solidFill>
          <a:ln/>
        </p:spPr>
      </p:sp>
      <p:sp>
        <p:nvSpPr>
          <p:cNvPr id="22" name="Text 20"/>
          <p:cNvSpPr/>
          <p:nvPr/>
        </p:nvSpPr>
        <p:spPr>
          <a:xfrm>
            <a:off x="1314450" y="3205282"/>
            <a:ext cx="1638300" cy="1066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16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Room2</a:t>
            </a:r>
            <a:endParaRPr lang="en-US" sz="1650" dirty="0"/>
          </a:p>
        </p:txBody>
      </p:sp>
      <p:sp>
        <p:nvSpPr>
          <p:cNvPr id="23" name="Shape 21"/>
          <p:cNvSpPr/>
          <p:nvPr/>
        </p:nvSpPr>
        <p:spPr>
          <a:xfrm>
            <a:off x="3219450" y="3212902"/>
            <a:ext cx="743902" cy="369570"/>
          </a:xfrm>
          <a:prstGeom prst="roundRect">
            <a:avLst>
              <a:gd name="adj" fmla="val 10309"/>
            </a:avLst>
          </a:prstGeom>
          <a:solidFill>
            <a:srgbClr val="B14A33">
              <a:alpha val="12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3314700" y="3251002"/>
            <a:ext cx="629602" cy="33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spc="99" kern="0" dirty="0">
                <a:solidFill>
                  <a:srgbClr val="B14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Mono</a:t>
            </a:r>
            <a:endParaRPr lang="en-US" sz="1650" dirty="0"/>
          </a:p>
        </p:txBody>
      </p:sp>
      <p:sp>
        <p:nvSpPr>
          <p:cNvPr id="25" name="Text 23"/>
          <p:cNvSpPr/>
          <p:nvPr/>
        </p:nvSpPr>
        <p:spPr>
          <a:xfrm>
            <a:off x="4970859" y="3205282"/>
            <a:ext cx="2187416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161A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1.23</a:t>
            </a:r>
            <a:endParaRPr lang="en-US" sz="1650" dirty="0"/>
          </a:p>
        </p:txBody>
      </p:sp>
      <p:sp>
        <p:nvSpPr>
          <p:cNvPr id="26" name="Text 24"/>
          <p:cNvSpPr/>
          <p:nvPr/>
        </p:nvSpPr>
        <p:spPr>
          <a:xfrm>
            <a:off x="7424976" y="3205282"/>
            <a:ext cx="1821418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161A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9.83</a:t>
            </a:r>
            <a:endParaRPr lang="en-US" sz="1650" dirty="0"/>
          </a:p>
        </p:txBody>
      </p:sp>
      <p:sp>
        <p:nvSpPr>
          <p:cNvPr id="27" name="Text 25"/>
          <p:cNvSpPr/>
          <p:nvPr/>
        </p:nvSpPr>
        <p:spPr>
          <a:xfrm>
            <a:off x="9513094" y="3205282"/>
            <a:ext cx="1821418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161A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46.57</a:t>
            </a:r>
            <a:endParaRPr lang="en-US" sz="1650" dirty="0"/>
          </a:p>
        </p:txBody>
      </p:sp>
      <p:sp>
        <p:nvSpPr>
          <p:cNvPr id="28" name="Text 26"/>
          <p:cNvSpPr/>
          <p:nvPr/>
        </p:nvSpPr>
        <p:spPr>
          <a:xfrm>
            <a:off x="11601212" y="3205282"/>
            <a:ext cx="1821418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161A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0.70*</a:t>
            </a:r>
            <a:endParaRPr lang="en-US" sz="1650" dirty="0"/>
          </a:p>
        </p:txBody>
      </p:sp>
      <p:sp>
        <p:nvSpPr>
          <p:cNvPr id="29" name="Text 27"/>
          <p:cNvSpPr/>
          <p:nvPr/>
        </p:nvSpPr>
        <p:spPr>
          <a:xfrm>
            <a:off x="13689331" y="3205282"/>
            <a:ext cx="1455182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161A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0.49</a:t>
            </a:r>
            <a:endParaRPr lang="en-US" sz="1650" dirty="0"/>
          </a:p>
        </p:txBody>
      </p:sp>
      <p:sp>
        <p:nvSpPr>
          <p:cNvPr id="30" name="Text 28"/>
          <p:cNvSpPr/>
          <p:nvPr/>
        </p:nvSpPr>
        <p:spPr>
          <a:xfrm>
            <a:off x="15411212" y="3205282"/>
            <a:ext cx="1638538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161A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142.4</a:t>
            </a:r>
            <a:endParaRPr lang="en-US" sz="1650" dirty="0"/>
          </a:p>
        </p:txBody>
      </p:sp>
      <p:sp>
        <p:nvSpPr>
          <p:cNvPr id="31" name="Shape 29"/>
          <p:cNvSpPr/>
          <p:nvPr/>
        </p:nvSpPr>
        <p:spPr>
          <a:xfrm>
            <a:off x="1143000" y="4359712"/>
            <a:ext cx="16002000" cy="9525"/>
          </a:xfrm>
          <a:prstGeom prst="rect">
            <a:avLst/>
          </a:prstGeom>
          <a:solidFill>
            <a:srgbClr val="D8D1C2"/>
          </a:solidFill>
          <a:ln/>
        </p:spPr>
      </p:sp>
      <p:sp>
        <p:nvSpPr>
          <p:cNvPr id="32" name="Shape 30"/>
          <p:cNvSpPr/>
          <p:nvPr/>
        </p:nvSpPr>
        <p:spPr>
          <a:xfrm>
            <a:off x="3219450" y="3856792"/>
            <a:ext cx="1020485" cy="369570"/>
          </a:xfrm>
          <a:prstGeom prst="roundRect">
            <a:avLst>
              <a:gd name="adj" fmla="val 10309"/>
            </a:avLst>
          </a:prstGeom>
          <a:solidFill>
            <a:srgbClr val="2A6F4F">
              <a:alpha val="12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3314700" y="3894892"/>
            <a:ext cx="906185" cy="33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spc="99" kern="0" dirty="0">
                <a:solidFill>
                  <a:srgbClr val="2A6F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Stereo</a:t>
            </a:r>
            <a:endParaRPr lang="en-US" sz="1650" dirty="0"/>
          </a:p>
        </p:txBody>
      </p:sp>
      <p:sp>
        <p:nvSpPr>
          <p:cNvPr id="34" name="Text 32"/>
          <p:cNvSpPr/>
          <p:nvPr/>
        </p:nvSpPr>
        <p:spPr>
          <a:xfrm>
            <a:off x="4970859" y="3852982"/>
            <a:ext cx="2187416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161A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0.29</a:t>
            </a:r>
            <a:endParaRPr lang="en-US" sz="1650" dirty="0"/>
          </a:p>
        </p:txBody>
      </p:sp>
      <p:sp>
        <p:nvSpPr>
          <p:cNvPr id="35" name="Text 33"/>
          <p:cNvSpPr/>
          <p:nvPr/>
        </p:nvSpPr>
        <p:spPr>
          <a:xfrm>
            <a:off x="7424976" y="3852982"/>
            <a:ext cx="1821418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161A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0.020</a:t>
            </a:r>
            <a:endParaRPr lang="en-US" sz="1650" dirty="0"/>
          </a:p>
        </p:txBody>
      </p:sp>
      <p:sp>
        <p:nvSpPr>
          <p:cNvPr id="36" name="Text 34"/>
          <p:cNvSpPr/>
          <p:nvPr/>
        </p:nvSpPr>
        <p:spPr>
          <a:xfrm>
            <a:off x="9513094" y="3852982"/>
            <a:ext cx="1821418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161A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1.10</a:t>
            </a:r>
            <a:endParaRPr lang="en-US" sz="1650" dirty="0"/>
          </a:p>
        </p:txBody>
      </p:sp>
      <p:sp>
        <p:nvSpPr>
          <p:cNvPr id="37" name="Text 35"/>
          <p:cNvSpPr/>
          <p:nvPr/>
        </p:nvSpPr>
        <p:spPr>
          <a:xfrm>
            <a:off x="11601212" y="3852982"/>
            <a:ext cx="1821418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161A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1.03</a:t>
            </a:r>
            <a:endParaRPr lang="en-US" sz="1650" dirty="0"/>
          </a:p>
        </p:txBody>
      </p:sp>
      <p:sp>
        <p:nvSpPr>
          <p:cNvPr id="38" name="Text 36"/>
          <p:cNvSpPr/>
          <p:nvPr/>
        </p:nvSpPr>
        <p:spPr>
          <a:xfrm>
            <a:off x="13689331" y="3852982"/>
            <a:ext cx="1455182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161A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0.72</a:t>
            </a:r>
            <a:endParaRPr lang="en-US" sz="1650" dirty="0"/>
          </a:p>
        </p:txBody>
      </p:sp>
      <p:sp>
        <p:nvSpPr>
          <p:cNvPr id="39" name="Text 37"/>
          <p:cNvSpPr/>
          <p:nvPr/>
        </p:nvSpPr>
        <p:spPr>
          <a:xfrm>
            <a:off x="15411212" y="3852982"/>
            <a:ext cx="1638538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161A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142.6</a:t>
            </a:r>
            <a:endParaRPr lang="en-US" sz="1650" dirty="0"/>
          </a:p>
        </p:txBody>
      </p:sp>
      <p:sp>
        <p:nvSpPr>
          <p:cNvPr id="40" name="Shape 38"/>
          <p:cNvSpPr/>
          <p:nvPr/>
        </p:nvSpPr>
        <p:spPr>
          <a:xfrm>
            <a:off x="1143000" y="5007412"/>
            <a:ext cx="16002000" cy="9525"/>
          </a:xfrm>
          <a:prstGeom prst="rect">
            <a:avLst/>
          </a:prstGeom>
          <a:solidFill>
            <a:srgbClr val="D8D1C2"/>
          </a:solidFill>
          <a:ln/>
        </p:spPr>
      </p:sp>
      <p:sp>
        <p:nvSpPr>
          <p:cNvPr id="41" name="Shape 39"/>
          <p:cNvSpPr/>
          <p:nvPr/>
        </p:nvSpPr>
        <p:spPr>
          <a:xfrm>
            <a:off x="1143000" y="4367332"/>
            <a:ext cx="16002000" cy="15240"/>
          </a:xfrm>
          <a:prstGeom prst="rect">
            <a:avLst/>
          </a:prstGeom>
          <a:solidFill>
            <a:srgbClr val="D8D1C2"/>
          </a:solidFill>
          <a:ln/>
        </p:spPr>
      </p:sp>
      <p:sp>
        <p:nvSpPr>
          <p:cNvPr id="42" name="Text 40"/>
          <p:cNvSpPr/>
          <p:nvPr/>
        </p:nvSpPr>
        <p:spPr>
          <a:xfrm>
            <a:off x="1314450" y="4500682"/>
            <a:ext cx="1638300" cy="1066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16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Corridor3</a:t>
            </a:r>
            <a:endParaRPr lang="en-US" sz="1650" dirty="0"/>
          </a:p>
        </p:txBody>
      </p:sp>
      <p:sp>
        <p:nvSpPr>
          <p:cNvPr id="43" name="Shape 41"/>
          <p:cNvSpPr/>
          <p:nvPr/>
        </p:nvSpPr>
        <p:spPr>
          <a:xfrm>
            <a:off x="3219450" y="4508302"/>
            <a:ext cx="743902" cy="369570"/>
          </a:xfrm>
          <a:prstGeom prst="roundRect">
            <a:avLst>
              <a:gd name="adj" fmla="val 10309"/>
            </a:avLst>
          </a:prstGeom>
          <a:solidFill>
            <a:srgbClr val="B14A33">
              <a:alpha val="12000"/>
            </a:srgbClr>
          </a:solidFill>
          <a:ln/>
        </p:spPr>
      </p:sp>
      <p:sp>
        <p:nvSpPr>
          <p:cNvPr id="44" name="Text 42"/>
          <p:cNvSpPr/>
          <p:nvPr/>
        </p:nvSpPr>
        <p:spPr>
          <a:xfrm>
            <a:off x="3314700" y="4546402"/>
            <a:ext cx="629602" cy="33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spc="99" kern="0" dirty="0">
                <a:solidFill>
                  <a:srgbClr val="B14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Mono</a:t>
            </a:r>
            <a:endParaRPr lang="en-US" sz="1650" dirty="0"/>
          </a:p>
        </p:txBody>
      </p:sp>
      <p:sp>
        <p:nvSpPr>
          <p:cNvPr id="45" name="Text 43"/>
          <p:cNvSpPr/>
          <p:nvPr/>
        </p:nvSpPr>
        <p:spPr>
          <a:xfrm>
            <a:off x="4970859" y="4500682"/>
            <a:ext cx="2187416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161A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0.72–0.77</a:t>
            </a:r>
            <a:endParaRPr lang="en-US" sz="1650" dirty="0"/>
          </a:p>
        </p:txBody>
      </p:sp>
      <p:sp>
        <p:nvSpPr>
          <p:cNvPr id="46" name="Text 44"/>
          <p:cNvSpPr/>
          <p:nvPr/>
        </p:nvSpPr>
        <p:spPr>
          <a:xfrm>
            <a:off x="7424976" y="4500682"/>
            <a:ext cx="1821418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161A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8.03</a:t>
            </a:r>
            <a:endParaRPr lang="en-US" sz="1650" dirty="0"/>
          </a:p>
        </p:txBody>
      </p:sp>
      <p:sp>
        <p:nvSpPr>
          <p:cNvPr id="47" name="Text 45"/>
          <p:cNvSpPr/>
          <p:nvPr/>
        </p:nvSpPr>
        <p:spPr>
          <a:xfrm>
            <a:off x="9513094" y="4500682"/>
            <a:ext cx="1821418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161A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53.61</a:t>
            </a:r>
            <a:endParaRPr lang="en-US" sz="1650" dirty="0"/>
          </a:p>
        </p:txBody>
      </p:sp>
      <p:sp>
        <p:nvSpPr>
          <p:cNvPr id="48" name="Text 46"/>
          <p:cNvSpPr/>
          <p:nvPr/>
        </p:nvSpPr>
        <p:spPr>
          <a:xfrm>
            <a:off x="11601212" y="4500682"/>
            <a:ext cx="1821418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161A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0.50*</a:t>
            </a:r>
            <a:endParaRPr lang="en-US" sz="1650" dirty="0"/>
          </a:p>
        </p:txBody>
      </p:sp>
      <p:sp>
        <p:nvSpPr>
          <p:cNvPr id="49" name="Text 47"/>
          <p:cNvSpPr/>
          <p:nvPr/>
        </p:nvSpPr>
        <p:spPr>
          <a:xfrm>
            <a:off x="13689331" y="4500682"/>
            <a:ext cx="1455182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161A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1.18</a:t>
            </a:r>
            <a:endParaRPr lang="en-US" sz="1650" dirty="0"/>
          </a:p>
        </p:txBody>
      </p:sp>
      <p:sp>
        <p:nvSpPr>
          <p:cNvPr id="50" name="Text 48"/>
          <p:cNvSpPr/>
          <p:nvPr/>
        </p:nvSpPr>
        <p:spPr>
          <a:xfrm>
            <a:off x="15411212" y="4500682"/>
            <a:ext cx="1638538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161A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42.1</a:t>
            </a:r>
            <a:endParaRPr lang="en-US" sz="1650" dirty="0"/>
          </a:p>
        </p:txBody>
      </p:sp>
      <p:sp>
        <p:nvSpPr>
          <p:cNvPr id="51" name="Shape 49"/>
          <p:cNvSpPr/>
          <p:nvPr/>
        </p:nvSpPr>
        <p:spPr>
          <a:xfrm>
            <a:off x="1143000" y="5655112"/>
            <a:ext cx="16002000" cy="9525"/>
          </a:xfrm>
          <a:prstGeom prst="rect">
            <a:avLst/>
          </a:prstGeom>
          <a:solidFill>
            <a:srgbClr val="D8D1C2"/>
          </a:solidFill>
          <a:ln/>
        </p:spPr>
      </p:sp>
      <p:sp>
        <p:nvSpPr>
          <p:cNvPr id="52" name="Shape 50"/>
          <p:cNvSpPr/>
          <p:nvPr/>
        </p:nvSpPr>
        <p:spPr>
          <a:xfrm>
            <a:off x="3219450" y="5152192"/>
            <a:ext cx="1020485" cy="369570"/>
          </a:xfrm>
          <a:prstGeom prst="roundRect">
            <a:avLst>
              <a:gd name="adj" fmla="val 10309"/>
            </a:avLst>
          </a:prstGeom>
          <a:solidFill>
            <a:srgbClr val="2A6F4F">
              <a:alpha val="12000"/>
            </a:srgbClr>
          </a:solidFill>
          <a:ln/>
        </p:spPr>
      </p:sp>
      <p:sp>
        <p:nvSpPr>
          <p:cNvPr id="53" name="Text 51"/>
          <p:cNvSpPr/>
          <p:nvPr/>
        </p:nvSpPr>
        <p:spPr>
          <a:xfrm>
            <a:off x="3314700" y="5190292"/>
            <a:ext cx="906185" cy="33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spc="99" kern="0" dirty="0">
                <a:solidFill>
                  <a:srgbClr val="2A6F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Stereo</a:t>
            </a:r>
            <a:endParaRPr lang="en-US" sz="1650" dirty="0"/>
          </a:p>
        </p:txBody>
      </p:sp>
      <p:sp>
        <p:nvSpPr>
          <p:cNvPr id="54" name="Text 52"/>
          <p:cNvSpPr/>
          <p:nvPr/>
        </p:nvSpPr>
        <p:spPr>
          <a:xfrm>
            <a:off x="4970859" y="5148382"/>
            <a:ext cx="2187416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161A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0.024–0.042</a:t>
            </a:r>
            <a:endParaRPr lang="en-US" sz="1650" dirty="0"/>
          </a:p>
        </p:txBody>
      </p:sp>
      <p:sp>
        <p:nvSpPr>
          <p:cNvPr id="55" name="Text 53"/>
          <p:cNvSpPr/>
          <p:nvPr/>
        </p:nvSpPr>
        <p:spPr>
          <a:xfrm>
            <a:off x="7424976" y="5148382"/>
            <a:ext cx="1821418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161A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0.018</a:t>
            </a:r>
            <a:endParaRPr lang="en-US" sz="1650" dirty="0"/>
          </a:p>
        </p:txBody>
      </p:sp>
      <p:sp>
        <p:nvSpPr>
          <p:cNvPr id="56" name="Text 54"/>
          <p:cNvSpPr/>
          <p:nvPr/>
        </p:nvSpPr>
        <p:spPr>
          <a:xfrm>
            <a:off x="9513094" y="5148382"/>
            <a:ext cx="1821418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161A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1.09</a:t>
            </a:r>
            <a:endParaRPr lang="en-US" sz="1650" dirty="0"/>
          </a:p>
        </p:txBody>
      </p:sp>
      <p:sp>
        <p:nvSpPr>
          <p:cNvPr id="57" name="Text 55"/>
          <p:cNvSpPr/>
          <p:nvPr/>
        </p:nvSpPr>
        <p:spPr>
          <a:xfrm>
            <a:off x="11601212" y="5148382"/>
            <a:ext cx="1821418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161A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5.23</a:t>
            </a:r>
            <a:endParaRPr lang="en-US" sz="1650" dirty="0"/>
          </a:p>
        </p:txBody>
      </p:sp>
      <p:sp>
        <p:nvSpPr>
          <p:cNvPr id="58" name="Text 56"/>
          <p:cNvSpPr/>
          <p:nvPr/>
        </p:nvSpPr>
        <p:spPr>
          <a:xfrm>
            <a:off x="13689331" y="5148382"/>
            <a:ext cx="1455182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161A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1.71</a:t>
            </a:r>
            <a:endParaRPr lang="en-US" sz="1650" dirty="0"/>
          </a:p>
        </p:txBody>
      </p:sp>
      <p:sp>
        <p:nvSpPr>
          <p:cNvPr id="59" name="Text 57"/>
          <p:cNvSpPr/>
          <p:nvPr/>
        </p:nvSpPr>
        <p:spPr>
          <a:xfrm>
            <a:off x="15411212" y="5148382"/>
            <a:ext cx="1638538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161A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306.9</a:t>
            </a:r>
            <a:endParaRPr lang="en-US" sz="1650" dirty="0"/>
          </a:p>
        </p:txBody>
      </p:sp>
      <p:sp>
        <p:nvSpPr>
          <p:cNvPr id="60" name="Shape 58"/>
          <p:cNvSpPr/>
          <p:nvPr/>
        </p:nvSpPr>
        <p:spPr>
          <a:xfrm>
            <a:off x="1143000" y="6302812"/>
            <a:ext cx="16002000" cy="9525"/>
          </a:xfrm>
          <a:prstGeom prst="rect">
            <a:avLst/>
          </a:prstGeom>
          <a:solidFill>
            <a:srgbClr val="D8D1C2"/>
          </a:solidFill>
          <a:ln/>
        </p:spPr>
      </p:sp>
      <p:sp>
        <p:nvSpPr>
          <p:cNvPr id="61" name="Shape 59"/>
          <p:cNvSpPr/>
          <p:nvPr/>
        </p:nvSpPr>
        <p:spPr>
          <a:xfrm>
            <a:off x="1143000" y="5662732"/>
            <a:ext cx="16002000" cy="15240"/>
          </a:xfrm>
          <a:prstGeom prst="rect">
            <a:avLst/>
          </a:prstGeom>
          <a:solidFill>
            <a:srgbClr val="D8D1C2"/>
          </a:solidFill>
          <a:ln/>
        </p:spPr>
      </p:sp>
      <p:sp>
        <p:nvSpPr>
          <p:cNvPr id="62" name="Text 60"/>
          <p:cNvSpPr/>
          <p:nvPr/>
        </p:nvSpPr>
        <p:spPr>
          <a:xfrm>
            <a:off x="1314450" y="5796082"/>
            <a:ext cx="1638300" cy="1059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16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Outdoors5</a:t>
            </a:r>
            <a:endParaRPr lang="en-US" sz="1650" dirty="0"/>
          </a:p>
        </p:txBody>
      </p:sp>
      <p:sp>
        <p:nvSpPr>
          <p:cNvPr id="63" name="Shape 61"/>
          <p:cNvSpPr/>
          <p:nvPr/>
        </p:nvSpPr>
        <p:spPr>
          <a:xfrm>
            <a:off x="3219450" y="5803702"/>
            <a:ext cx="743902" cy="369570"/>
          </a:xfrm>
          <a:prstGeom prst="roundRect">
            <a:avLst>
              <a:gd name="adj" fmla="val 10309"/>
            </a:avLst>
          </a:prstGeom>
          <a:solidFill>
            <a:srgbClr val="B14A33">
              <a:alpha val="12000"/>
            </a:srgbClr>
          </a:solidFill>
          <a:ln/>
        </p:spPr>
      </p:sp>
      <p:sp>
        <p:nvSpPr>
          <p:cNvPr id="64" name="Text 62"/>
          <p:cNvSpPr/>
          <p:nvPr/>
        </p:nvSpPr>
        <p:spPr>
          <a:xfrm>
            <a:off x="3314700" y="5841802"/>
            <a:ext cx="629602" cy="33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spc="99" kern="0" dirty="0">
                <a:solidFill>
                  <a:srgbClr val="B14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Mono</a:t>
            </a:r>
            <a:endParaRPr lang="en-US" sz="1650" dirty="0"/>
          </a:p>
        </p:txBody>
      </p:sp>
      <p:sp>
        <p:nvSpPr>
          <p:cNvPr id="65" name="Text 63"/>
          <p:cNvSpPr/>
          <p:nvPr/>
        </p:nvSpPr>
        <p:spPr>
          <a:xfrm>
            <a:off x="4970859" y="5796082"/>
            <a:ext cx="2187416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161A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0.73–0.91</a:t>
            </a:r>
            <a:endParaRPr lang="en-US" sz="1650" dirty="0"/>
          </a:p>
        </p:txBody>
      </p:sp>
      <p:sp>
        <p:nvSpPr>
          <p:cNvPr id="66" name="Text 64"/>
          <p:cNvSpPr/>
          <p:nvPr/>
        </p:nvSpPr>
        <p:spPr>
          <a:xfrm>
            <a:off x="7424976" y="5796082"/>
            <a:ext cx="1821418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161A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7.78</a:t>
            </a:r>
            <a:endParaRPr lang="en-US" sz="1650" dirty="0"/>
          </a:p>
        </p:txBody>
      </p:sp>
      <p:sp>
        <p:nvSpPr>
          <p:cNvPr id="67" name="Text 65"/>
          <p:cNvSpPr/>
          <p:nvPr/>
        </p:nvSpPr>
        <p:spPr>
          <a:xfrm>
            <a:off x="9513094" y="5796082"/>
            <a:ext cx="1821418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161A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62.96</a:t>
            </a:r>
            <a:endParaRPr lang="en-US" sz="1650" dirty="0"/>
          </a:p>
        </p:txBody>
      </p:sp>
      <p:sp>
        <p:nvSpPr>
          <p:cNvPr id="68" name="Text 66"/>
          <p:cNvSpPr/>
          <p:nvPr/>
        </p:nvSpPr>
        <p:spPr>
          <a:xfrm>
            <a:off x="11601212" y="5796082"/>
            <a:ext cx="1821418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161A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0.35*</a:t>
            </a:r>
            <a:endParaRPr lang="en-US" sz="1650" dirty="0"/>
          </a:p>
        </p:txBody>
      </p:sp>
      <p:sp>
        <p:nvSpPr>
          <p:cNvPr id="69" name="Text 67"/>
          <p:cNvSpPr/>
          <p:nvPr/>
        </p:nvSpPr>
        <p:spPr>
          <a:xfrm>
            <a:off x="13689331" y="5796082"/>
            <a:ext cx="1455182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161A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0.26</a:t>
            </a:r>
            <a:endParaRPr lang="en-US" sz="1650" dirty="0"/>
          </a:p>
        </p:txBody>
      </p:sp>
      <p:sp>
        <p:nvSpPr>
          <p:cNvPr id="70" name="Text 68"/>
          <p:cNvSpPr/>
          <p:nvPr/>
        </p:nvSpPr>
        <p:spPr>
          <a:xfrm>
            <a:off x="15411212" y="5796082"/>
            <a:ext cx="1638538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161A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135.8</a:t>
            </a:r>
            <a:endParaRPr lang="en-US" sz="1650" dirty="0"/>
          </a:p>
        </p:txBody>
      </p:sp>
      <p:sp>
        <p:nvSpPr>
          <p:cNvPr id="71" name="Shape 69"/>
          <p:cNvSpPr/>
          <p:nvPr/>
        </p:nvSpPr>
        <p:spPr>
          <a:xfrm>
            <a:off x="3219450" y="6447592"/>
            <a:ext cx="1020485" cy="369570"/>
          </a:xfrm>
          <a:prstGeom prst="roundRect">
            <a:avLst>
              <a:gd name="adj" fmla="val 10309"/>
            </a:avLst>
          </a:prstGeom>
          <a:solidFill>
            <a:srgbClr val="2A6F4F">
              <a:alpha val="12000"/>
            </a:srgbClr>
          </a:solidFill>
          <a:ln/>
        </p:spPr>
      </p:sp>
      <p:sp>
        <p:nvSpPr>
          <p:cNvPr id="72" name="Text 70"/>
          <p:cNvSpPr/>
          <p:nvPr/>
        </p:nvSpPr>
        <p:spPr>
          <a:xfrm>
            <a:off x="3314700" y="6485692"/>
            <a:ext cx="906185" cy="33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spc="99" kern="0" dirty="0">
                <a:solidFill>
                  <a:srgbClr val="2A6F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Stereo</a:t>
            </a:r>
            <a:endParaRPr lang="en-US" sz="1650" dirty="0"/>
          </a:p>
        </p:txBody>
      </p:sp>
      <p:sp>
        <p:nvSpPr>
          <p:cNvPr id="73" name="Text 71"/>
          <p:cNvSpPr/>
          <p:nvPr/>
        </p:nvSpPr>
        <p:spPr>
          <a:xfrm>
            <a:off x="4970859" y="6443782"/>
            <a:ext cx="2187416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161A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0.15–0.17</a:t>
            </a:r>
            <a:endParaRPr lang="en-US" sz="1650" dirty="0"/>
          </a:p>
        </p:txBody>
      </p:sp>
      <p:sp>
        <p:nvSpPr>
          <p:cNvPr id="74" name="Text 72"/>
          <p:cNvSpPr/>
          <p:nvPr/>
        </p:nvSpPr>
        <p:spPr>
          <a:xfrm>
            <a:off x="7424976" y="6443782"/>
            <a:ext cx="1821418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161A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0.037</a:t>
            </a:r>
            <a:endParaRPr lang="en-US" sz="1650" dirty="0"/>
          </a:p>
        </p:txBody>
      </p:sp>
      <p:sp>
        <p:nvSpPr>
          <p:cNvPr id="75" name="Text 73"/>
          <p:cNvSpPr/>
          <p:nvPr/>
        </p:nvSpPr>
        <p:spPr>
          <a:xfrm>
            <a:off x="9513094" y="6443782"/>
            <a:ext cx="1821418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161A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1.62</a:t>
            </a:r>
            <a:endParaRPr lang="en-US" sz="1650" dirty="0"/>
          </a:p>
        </p:txBody>
      </p:sp>
      <p:sp>
        <p:nvSpPr>
          <p:cNvPr id="76" name="Text 74"/>
          <p:cNvSpPr/>
          <p:nvPr/>
        </p:nvSpPr>
        <p:spPr>
          <a:xfrm>
            <a:off x="11601212" y="6443782"/>
            <a:ext cx="1821418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161A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46.13</a:t>
            </a:r>
            <a:endParaRPr lang="en-US" sz="1650" dirty="0"/>
          </a:p>
        </p:txBody>
      </p:sp>
      <p:sp>
        <p:nvSpPr>
          <p:cNvPr id="77" name="Text 75"/>
          <p:cNvSpPr/>
          <p:nvPr/>
        </p:nvSpPr>
        <p:spPr>
          <a:xfrm>
            <a:off x="13689331" y="6443782"/>
            <a:ext cx="1455182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161A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4.10</a:t>
            </a:r>
            <a:endParaRPr lang="en-US" sz="1650" dirty="0"/>
          </a:p>
        </p:txBody>
      </p:sp>
      <p:sp>
        <p:nvSpPr>
          <p:cNvPr id="78" name="Text 76"/>
          <p:cNvSpPr/>
          <p:nvPr/>
        </p:nvSpPr>
        <p:spPr>
          <a:xfrm>
            <a:off x="15411212" y="6443782"/>
            <a:ext cx="1638538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161A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1,125.4</a:t>
            </a:r>
            <a:endParaRPr lang="en-US" sz="1650" dirty="0"/>
          </a:p>
        </p:txBody>
      </p:sp>
      <p:sp>
        <p:nvSpPr>
          <p:cNvPr id="79" name="Text 77"/>
          <p:cNvSpPr/>
          <p:nvPr/>
        </p:nvSpPr>
        <p:spPr>
          <a:xfrm>
            <a:off x="1143000" y="7331512"/>
            <a:ext cx="8005572" cy="9220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16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Stereo is metric by construction: per-segment ATE at most 0.29 m, per-segment RPE-t at most 0.04 m. Path-normalised drift is 0.72 % indoors to 4.10 % on the kilometre outdoor loop.</a:t>
            </a:r>
            <a:endParaRPr lang="en-US" sz="1650" dirty="0"/>
          </a:p>
        </p:txBody>
      </p:sp>
      <p:sp>
        <p:nvSpPr>
          <p:cNvPr id="80" name="Text 78"/>
          <p:cNvSpPr/>
          <p:nvPr/>
        </p:nvSpPr>
        <p:spPr>
          <a:xfrm>
            <a:off x="9372600" y="7331512"/>
            <a:ext cx="8005572" cy="9220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161A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 Mono drift is post-Sim(3) </a:t>
            </a:r>
            <a:pPr algn="l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16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raw unit-vector integrated paths are 1,879 m, 707 m, and 4,565 m. Umeyama's scale parameter does the work; we look harder at this on the next slides.</a:t>
            </a:r>
            <a:endParaRPr lang="en-US" sz="1650" dirty="0"/>
          </a:p>
        </p:txBody>
      </p:sp>
      <p:sp>
        <p:nvSpPr>
          <p:cNvPr id="81" name="Text 79"/>
          <p:cNvSpPr/>
          <p:nvPr/>
        </p:nvSpPr>
        <p:spPr>
          <a:xfrm>
            <a:off x="1143000" y="9460230"/>
            <a:ext cx="5284438" cy="33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spc="132" kern="0" dirty="0">
                <a:solidFill>
                  <a:srgbClr val="6F76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Monocular to Stereo VO · TUM VI</a:t>
            </a:r>
            <a:endParaRPr lang="en-US" sz="1650" dirty="0"/>
          </a:p>
        </p:txBody>
      </p:sp>
      <p:sp>
        <p:nvSpPr>
          <p:cNvPr id="82" name="Text 80"/>
          <p:cNvSpPr/>
          <p:nvPr/>
        </p:nvSpPr>
        <p:spPr>
          <a:xfrm>
            <a:off x="16147376" y="9460230"/>
            <a:ext cx="1073825" cy="33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spc="132" kern="0" dirty="0">
                <a:solidFill>
                  <a:srgbClr val="6F76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 / 23</a:t>
            </a:r>
            <a:endParaRPr lang="en-US" sz="16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2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685800"/>
            <a:ext cx="16482060" cy="33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spc="264" kern="0" dirty="0">
                <a:solidFill>
                  <a:srgbClr val="6F76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 / RESULTS · THE HEADLINE GAP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143000" y="1112520"/>
            <a:ext cx="14716125" cy="6963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800" spc="-48" kern="0" dirty="0">
                <a:solidFill>
                  <a:srgbClr val="161A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Translational RPE — Stereo vs. Monocular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1143000" y="2075617"/>
            <a:ext cx="16002000" cy="9525"/>
          </a:xfrm>
          <a:prstGeom prst="rect">
            <a:avLst/>
          </a:prstGeom>
          <a:solidFill>
            <a:srgbClr val="D8D1C2"/>
          </a:solidFill>
          <a:ln/>
        </p:spPr>
      </p:sp>
      <p:sp>
        <p:nvSpPr>
          <p:cNvPr id="5" name="Shape 3"/>
          <p:cNvSpPr/>
          <p:nvPr/>
        </p:nvSpPr>
        <p:spPr>
          <a:xfrm>
            <a:off x="1143000" y="2542342"/>
            <a:ext cx="9159240" cy="5666899"/>
          </a:xfrm>
          <a:prstGeom prst="rect">
            <a:avLst/>
          </a:prstGeom>
          <a:solidFill>
            <a:srgbClr val="FFFFFF"/>
          </a:solidFill>
          <a:ln w="7620">
            <a:solidFill>
              <a:srgbClr val="D8D1C2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143000" y="2542342"/>
            <a:ext cx="9159240" cy="566689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744200" y="3441859"/>
            <a:ext cx="6592824" cy="5010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700" dirty="0">
                <a:solidFill>
                  <a:srgbClr val="16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accuracy, on a log scale.</a:t>
            </a:r>
            <a:endParaRPr lang="en-US" sz="2700" dirty="0"/>
          </a:p>
        </p:txBody>
      </p:sp>
      <p:sp>
        <p:nvSpPr>
          <p:cNvPr id="8" name="Text 5"/>
          <p:cNvSpPr/>
          <p:nvPr/>
        </p:nvSpPr>
        <p:spPr>
          <a:xfrm>
            <a:off x="10744200" y="4304824"/>
            <a:ext cx="6592824" cy="1092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2000"/>
              </a:lnSpc>
              <a:buNone/>
            </a:pPr>
            <a:r>
              <a:rPr lang="en-US" sz="1950" dirty="0">
                <a:solidFill>
                  <a:srgbClr val="16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Monocular sits around 8 m of per-interval translational error on every sequence; stereo sits between 18 and 37 millimetres.</a:t>
            </a:r>
            <a:endParaRPr lang="en-US" sz="1950" dirty="0"/>
          </a:p>
        </p:txBody>
      </p:sp>
      <p:sp>
        <p:nvSpPr>
          <p:cNvPr id="9" name="Text 6"/>
          <p:cNvSpPr/>
          <p:nvPr/>
        </p:nvSpPr>
        <p:spPr>
          <a:xfrm>
            <a:off x="10744200" y="6007298"/>
            <a:ext cx="6592824" cy="1092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2000"/>
              </a:lnSpc>
              <a:buNone/>
            </a:pPr>
            <a:r>
              <a:rPr lang="en-US" sz="1950" dirty="0">
                <a:solidFill>
                  <a:srgbClr val="16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RPE is the honest cross-modal metric — a 210× improvement outdoors, 436× in the corridor, 502× in Room2.</a:t>
            </a:r>
            <a:endParaRPr lang="en-US" sz="1950" dirty="0"/>
          </a:p>
        </p:txBody>
      </p:sp>
      <p:sp>
        <p:nvSpPr>
          <p:cNvPr id="10" name="Text 7"/>
          <p:cNvSpPr/>
          <p:nvPr/>
        </p:nvSpPr>
        <p:spPr>
          <a:xfrm>
            <a:off x="1143000" y="9460230"/>
            <a:ext cx="5284438" cy="33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spc="132" kern="0" dirty="0">
                <a:solidFill>
                  <a:srgbClr val="6F76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Monocular to Stereo VO · TUM VI</a:t>
            </a:r>
            <a:endParaRPr lang="en-US" sz="1650" dirty="0"/>
          </a:p>
        </p:txBody>
      </p:sp>
      <p:sp>
        <p:nvSpPr>
          <p:cNvPr id="11" name="Text 8"/>
          <p:cNvSpPr/>
          <p:nvPr/>
        </p:nvSpPr>
        <p:spPr>
          <a:xfrm>
            <a:off x="16147376" y="9460230"/>
            <a:ext cx="1073825" cy="33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spc="132" kern="0" dirty="0">
                <a:solidFill>
                  <a:srgbClr val="6F76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 / 23</a:t>
            </a:r>
            <a:endParaRPr lang="en-US" sz="16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2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685800"/>
            <a:ext cx="16482060" cy="33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spc="264" kern="0" dirty="0">
                <a:solidFill>
                  <a:srgbClr val="6F76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 / RESULTS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143000" y="1112520"/>
            <a:ext cx="14716125" cy="6963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800" spc="-48" kern="0" dirty="0">
                <a:solidFill>
                  <a:srgbClr val="161A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Rotational RPE — The Pure-Rotation Failure Mode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1143000" y="2075617"/>
            <a:ext cx="16002000" cy="9525"/>
          </a:xfrm>
          <a:prstGeom prst="rect">
            <a:avLst/>
          </a:prstGeom>
          <a:solidFill>
            <a:srgbClr val="D8D1C2"/>
          </a:solidFill>
          <a:ln/>
        </p:spPr>
      </p:sp>
      <p:sp>
        <p:nvSpPr>
          <p:cNvPr id="5" name="Shape 3"/>
          <p:cNvSpPr/>
          <p:nvPr/>
        </p:nvSpPr>
        <p:spPr>
          <a:xfrm>
            <a:off x="1143000" y="2542342"/>
            <a:ext cx="9159240" cy="5659755"/>
          </a:xfrm>
          <a:prstGeom prst="rect">
            <a:avLst/>
          </a:prstGeom>
          <a:solidFill>
            <a:srgbClr val="FFFFFF"/>
          </a:solidFill>
          <a:ln w="7620">
            <a:solidFill>
              <a:srgbClr val="D8D1C2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143000" y="2542342"/>
            <a:ext cx="9159240" cy="565975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744200" y="3206830"/>
            <a:ext cx="6592824" cy="9639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700" dirty="0">
                <a:solidFill>
                  <a:srgbClr val="16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Monocular rotational RPE reaches 47° to 63°. Stereo stays near 1°.</a:t>
            </a:r>
            <a:endParaRPr lang="en-US" sz="2700" dirty="0"/>
          </a:p>
        </p:txBody>
      </p:sp>
      <p:sp>
        <p:nvSpPr>
          <p:cNvPr id="8" name="Text 5"/>
          <p:cNvSpPr/>
          <p:nvPr/>
        </p:nvSpPr>
        <p:spPr>
          <a:xfrm>
            <a:off x="10744200" y="4532709"/>
            <a:ext cx="6592824" cy="1092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2000"/>
              </a:lnSpc>
              <a:buNone/>
            </a:pPr>
            <a:r>
              <a:rPr lang="en-US" sz="1950" dirty="0">
                <a:solidFill>
                  <a:srgbClr val="16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5-point essential matrix is degenerate under near-pure rotation — translation cannot be recovered from rotational image flow alone.</a:t>
            </a:r>
            <a:endParaRPr lang="en-US" sz="1950" dirty="0"/>
          </a:p>
        </p:txBody>
      </p:sp>
      <p:sp>
        <p:nvSpPr>
          <p:cNvPr id="9" name="Text 6"/>
          <p:cNvSpPr/>
          <p:nvPr/>
        </p:nvSpPr>
        <p:spPr>
          <a:xfrm>
            <a:off x="10744200" y="6235184"/>
            <a:ext cx="6592824" cy="1092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2000"/>
              </a:lnSpc>
              <a:buNone/>
            </a:pPr>
            <a:r>
              <a:rPr lang="en-US" sz="1950" dirty="0">
                <a:solidFill>
                  <a:srgbClr val="16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TUM VI's hand-held look-around motion in Room2 is the textbook worst case. Stereo grounds every PnP step in metric depth, so pure rotation stops being a failure mode.</a:t>
            </a:r>
            <a:endParaRPr lang="en-US" sz="1950" dirty="0"/>
          </a:p>
        </p:txBody>
      </p:sp>
      <p:sp>
        <p:nvSpPr>
          <p:cNvPr id="10" name="Text 7"/>
          <p:cNvSpPr/>
          <p:nvPr/>
        </p:nvSpPr>
        <p:spPr>
          <a:xfrm>
            <a:off x="1143000" y="9460230"/>
            <a:ext cx="5284438" cy="33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spc="132" kern="0" dirty="0">
                <a:solidFill>
                  <a:srgbClr val="6F76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Monocular to Stereo VO · TUM VI</a:t>
            </a:r>
            <a:endParaRPr lang="en-US" sz="1650" dirty="0"/>
          </a:p>
        </p:txBody>
      </p:sp>
      <p:sp>
        <p:nvSpPr>
          <p:cNvPr id="11" name="Text 8"/>
          <p:cNvSpPr/>
          <p:nvPr/>
        </p:nvSpPr>
        <p:spPr>
          <a:xfrm>
            <a:off x="16147376" y="9460230"/>
            <a:ext cx="1073825" cy="33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spc="132" kern="0" dirty="0">
                <a:solidFill>
                  <a:srgbClr val="6F76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 / 23</a:t>
            </a:r>
            <a:endParaRPr lang="en-US" sz="16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2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685800"/>
            <a:ext cx="16482060" cy="33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spc="264" kern="0" dirty="0">
                <a:solidFill>
                  <a:srgbClr val="6F76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 / RESULTS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143000" y="1112520"/>
            <a:ext cx="14716125" cy="6963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800" spc="-48" kern="0" dirty="0">
                <a:solidFill>
                  <a:srgbClr val="161A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Absolute Trajectory Error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1143000" y="2075617"/>
            <a:ext cx="16002000" cy="9525"/>
          </a:xfrm>
          <a:prstGeom prst="rect">
            <a:avLst/>
          </a:prstGeom>
          <a:solidFill>
            <a:srgbClr val="D8D1C2"/>
          </a:solidFill>
          <a:ln/>
        </p:spPr>
      </p:sp>
      <p:sp>
        <p:nvSpPr>
          <p:cNvPr id="5" name="Shape 3"/>
          <p:cNvSpPr/>
          <p:nvPr/>
        </p:nvSpPr>
        <p:spPr>
          <a:xfrm>
            <a:off x="1143000" y="2542342"/>
            <a:ext cx="9159240" cy="5663327"/>
          </a:xfrm>
          <a:prstGeom prst="rect">
            <a:avLst/>
          </a:prstGeom>
          <a:solidFill>
            <a:srgbClr val="FFFFFF"/>
          </a:solidFill>
          <a:ln w="7620">
            <a:solidFill>
              <a:srgbClr val="D8D1C2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143000" y="2542342"/>
            <a:ext cx="9159240" cy="566332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744200" y="3208615"/>
            <a:ext cx="6592824" cy="9639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700" dirty="0">
                <a:solidFill>
                  <a:srgbClr val="16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Stereo wins on ATE — but the comparison is unfair to stereo.</a:t>
            </a:r>
            <a:endParaRPr lang="en-US" sz="2700" dirty="0"/>
          </a:p>
        </p:txBody>
      </p:sp>
      <p:sp>
        <p:nvSpPr>
          <p:cNvPr id="8" name="Text 5"/>
          <p:cNvSpPr/>
          <p:nvPr/>
        </p:nvSpPr>
        <p:spPr>
          <a:xfrm>
            <a:off x="10744200" y="4534495"/>
            <a:ext cx="6592824" cy="1092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2000"/>
              </a:lnSpc>
              <a:buNone/>
            </a:pPr>
            <a:r>
              <a:rPr lang="en-US" sz="1950" dirty="0">
                <a:solidFill>
                  <a:srgbClr val="16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Mono ATE uses Sim(3) alignment, which freely optimises scale; stereo uses SE(3) because metric scale is already recovered.</a:t>
            </a:r>
            <a:endParaRPr lang="en-US" sz="1950" dirty="0"/>
          </a:p>
        </p:txBody>
      </p:sp>
      <p:sp>
        <p:nvSpPr>
          <p:cNvPr id="9" name="Text 6"/>
          <p:cNvSpPr/>
          <p:nvPr/>
        </p:nvSpPr>
        <p:spPr>
          <a:xfrm>
            <a:off x="10744200" y="6236970"/>
            <a:ext cx="6592824" cy="1092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2000"/>
              </a:lnSpc>
              <a:buNone/>
            </a:pPr>
            <a:r>
              <a:rPr lang="en-US" sz="1950" dirty="0">
                <a:solidFill>
                  <a:srgbClr val="16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 with that handicap, stereo is 4× better in Room2, 19× in the corridor, 5× outdoors. Mono ATE looks low only because Sim(3) hides the scale collapse.</a:t>
            </a:r>
            <a:endParaRPr lang="en-US" sz="1950" dirty="0"/>
          </a:p>
        </p:txBody>
      </p:sp>
      <p:sp>
        <p:nvSpPr>
          <p:cNvPr id="10" name="Text 7"/>
          <p:cNvSpPr/>
          <p:nvPr/>
        </p:nvSpPr>
        <p:spPr>
          <a:xfrm>
            <a:off x="1143000" y="9460230"/>
            <a:ext cx="5284438" cy="33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spc="132" kern="0" dirty="0">
                <a:solidFill>
                  <a:srgbClr val="6F76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Monocular to Stereo VO · TUM VI</a:t>
            </a:r>
            <a:endParaRPr lang="en-US" sz="1650" dirty="0"/>
          </a:p>
        </p:txBody>
      </p:sp>
      <p:sp>
        <p:nvSpPr>
          <p:cNvPr id="11" name="Text 8"/>
          <p:cNvSpPr/>
          <p:nvPr/>
        </p:nvSpPr>
        <p:spPr>
          <a:xfrm>
            <a:off x="16147376" y="9460230"/>
            <a:ext cx="1073825" cy="33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spc="132" kern="0" dirty="0">
                <a:solidFill>
                  <a:srgbClr val="6F76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 / 23</a:t>
            </a:r>
            <a:endParaRPr lang="en-US" sz="16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2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685800"/>
            <a:ext cx="16482060" cy="33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spc="264" kern="0" dirty="0">
                <a:solidFill>
                  <a:srgbClr val="6F76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 / RESULTS · HONEST CAVEAT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143000" y="1112520"/>
            <a:ext cx="14716125" cy="6963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800" spc="-48" kern="0" dirty="0">
                <a:solidFill>
                  <a:srgbClr val="161A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Runtime — The Cost of Metric Scale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1143000" y="2075617"/>
            <a:ext cx="16002000" cy="9525"/>
          </a:xfrm>
          <a:prstGeom prst="rect">
            <a:avLst/>
          </a:prstGeom>
          <a:solidFill>
            <a:srgbClr val="D8D1C2"/>
          </a:solidFill>
          <a:ln/>
        </p:spPr>
      </p:sp>
      <p:sp>
        <p:nvSpPr>
          <p:cNvPr id="5" name="Shape 3"/>
          <p:cNvSpPr/>
          <p:nvPr/>
        </p:nvSpPr>
        <p:spPr>
          <a:xfrm>
            <a:off x="1143000" y="2542342"/>
            <a:ext cx="9159240" cy="5659755"/>
          </a:xfrm>
          <a:prstGeom prst="rect">
            <a:avLst/>
          </a:prstGeom>
          <a:solidFill>
            <a:srgbClr val="FFFFFF"/>
          </a:solidFill>
          <a:ln w="7620">
            <a:solidFill>
              <a:srgbClr val="D8D1C2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143000" y="2542342"/>
            <a:ext cx="9159240" cy="565975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744200" y="2975372"/>
            <a:ext cx="6592824" cy="14268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700" dirty="0">
                <a:solidFill>
                  <a:srgbClr val="16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Stereo is roughly half the speed of monocular indoors. Outdoors it collapses to 0.6 frames per second.</a:t>
            </a:r>
            <a:endParaRPr lang="en-US" sz="2700" dirty="0"/>
          </a:p>
        </p:txBody>
      </p:sp>
      <p:sp>
        <p:nvSpPr>
          <p:cNvPr id="8" name="Text 5"/>
          <p:cNvSpPr/>
          <p:nvPr/>
        </p:nvSpPr>
        <p:spPr>
          <a:xfrm>
            <a:off x="10744200" y="4764167"/>
            <a:ext cx="6592824" cy="1092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2000"/>
              </a:lnSpc>
              <a:buNone/>
            </a:pPr>
            <a:r>
              <a:rPr lang="en-US" sz="1950" dirty="0">
                <a:solidFill>
                  <a:srgbClr val="16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dominant cost is StereoSGBM disparity — especially the outdoor preset, where the disparity search range doubles to cover textureless ground.</a:t>
            </a:r>
            <a:endParaRPr lang="en-US" sz="1950" dirty="0"/>
          </a:p>
        </p:txBody>
      </p:sp>
      <p:sp>
        <p:nvSpPr>
          <p:cNvPr id="9" name="Text 6"/>
          <p:cNvSpPr/>
          <p:nvPr/>
        </p:nvSpPr>
        <p:spPr>
          <a:xfrm>
            <a:off x="10744200" y="6466642"/>
            <a:ext cx="6592824" cy="1092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2000"/>
              </a:lnSpc>
              <a:buNone/>
            </a:pPr>
            <a:r>
              <a:rPr lang="en-US" sz="1950" dirty="0">
                <a:solidFill>
                  <a:srgbClr val="16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a single-thread Python prototype. A production version would move SGBM to GPU and parallelise the front-end.</a:t>
            </a:r>
            <a:endParaRPr lang="en-US" sz="1950" dirty="0"/>
          </a:p>
        </p:txBody>
      </p:sp>
      <p:sp>
        <p:nvSpPr>
          <p:cNvPr id="10" name="Text 7"/>
          <p:cNvSpPr/>
          <p:nvPr/>
        </p:nvSpPr>
        <p:spPr>
          <a:xfrm>
            <a:off x="1143000" y="9460230"/>
            <a:ext cx="5284438" cy="33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spc="132" kern="0" dirty="0">
                <a:solidFill>
                  <a:srgbClr val="6F76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Monocular to Stereo VO · TUM VI</a:t>
            </a:r>
            <a:endParaRPr lang="en-US" sz="1650" dirty="0"/>
          </a:p>
        </p:txBody>
      </p:sp>
      <p:sp>
        <p:nvSpPr>
          <p:cNvPr id="11" name="Text 8"/>
          <p:cNvSpPr/>
          <p:nvPr/>
        </p:nvSpPr>
        <p:spPr>
          <a:xfrm>
            <a:off x="16147376" y="9460230"/>
            <a:ext cx="1073825" cy="33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spc="132" kern="0" dirty="0">
                <a:solidFill>
                  <a:srgbClr val="6F76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 / 23</a:t>
            </a:r>
            <a:endParaRPr lang="en-US" sz="16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F2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685800"/>
            <a:ext cx="16482060" cy="33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spc="264" kern="0" dirty="0">
                <a:solidFill>
                  <a:srgbClr val="6F76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 / RESULTS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143000" y="1112520"/>
            <a:ext cx="14716125" cy="6963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800" spc="-48" kern="0" dirty="0">
                <a:solidFill>
                  <a:srgbClr val="161A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Ablation — Component Contributions on Outdoors5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1143000" y="2075617"/>
            <a:ext cx="16002000" cy="9525"/>
          </a:xfrm>
          <a:prstGeom prst="rect">
            <a:avLst/>
          </a:prstGeom>
          <a:solidFill>
            <a:srgbClr val="D8D1C2"/>
          </a:solidFill>
          <a:ln/>
        </p:spPr>
      </p:sp>
      <p:sp>
        <p:nvSpPr>
          <p:cNvPr id="5" name="Shape 3"/>
          <p:cNvSpPr/>
          <p:nvPr/>
        </p:nvSpPr>
        <p:spPr>
          <a:xfrm>
            <a:off x="1143000" y="3502462"/>
            <a:ext cx="3501747" cy="15240"/>
          </a:xfrm>
          <a:prstGeom prst="rect">
            <a:avLst/>
          </a:prstGeom>
          <a:solidFill>
            <a:srgbClr val="161A24"/>
          </a:solidFill>
          <a:ln/>
        </p:spPr>
      </p:sp>
      <p:sp>
        <p:nvSpPr>
          <p:cNvPr id="6" name="Text 4"/>
          <p:cNvSpPr/>
          <p:nvPr/>
        </p:nvSpPr>
        <p:spPr>
          <a:xfrm>
            <a:off x="1314450" y="2789992"/>
            <a:ext cx="3263900" cy="617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spc="132" kern="0" dirty="0">
                <a:solidFill>
                  <a:srgbClr val="6F76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CUMULATIVE CONFIGURATION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4644747" y="3502462"/>
            <a:ext cx="1645087" cy="15240"/>
          </a:xfrm>
          <a:prstGeom prst="rect">
            <a:avLst/>
          </a:prstGeom>
          <a:solidFill>
            <a:srgbClr val="161A24"/>
          </a:solidFill>
          <a:ln/>
        </p:spPr>
      </p:sp>
      <p:sp>
        <p:nvSpPr>
          <p:cNvPr id="8" name="Text 6"/>
          <p:cNvSpPr/>
          <p:nvPr/>
        </p:nvSpPr>
        <p:spPr>
          <a:xfrm>
            <a:off x="4816197" y="2789992"/>
            <a:ext cx="1378387" cy="617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spc="132" kern="0" dirty="0">
                <a:solidFill>
                  <a:srgbClr val="6F76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ATE SEG (M)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6289834" y="3502462"/>
            <a:ext cx="1478399" cy="15240"/>
          </a:xfrm>
          <a:prstGeom prst="rect">
            <a:avLst/>
          </a:prstGeom>
          <a:solidFill>
            <a:srgbClr val="161A24"/>
          </a:solidFill>
          <a:ln/>
        </p:spPr>
      </p:sp>
      <p:sp>
        <p:nvSpPr>
          <p:cNvPr id="10" name="Text 8"/>
          <p:cNvSpPr/>
          <p:nvPr/>
        </p:nvSpPr>
        <p:spPr>
          <a:xfrm>
            <a:off x="6461284" y="2789992"/>
            <a:ext cx="1211699" cy="617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spc="132" kern="0" dirty="0">
                <a:solidFill>
                  <a:srgbClr val="6F76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RPE-T (M)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7768233" y="3502462"/>
            <a:ext cx="1437799" cy="15240"/>
          </a:xfrm>
          <a:prstGeom prst="rect">
            <a:avLst/>
          </a:prstGeom>
          <a:solidFill>
            <a:srgbClr val="161A24"/>
          </a:solidFill>
          <a:ln/>
        </p:spPr>
      </p:sp>
      <p:sp>
        <p:nvSpPr>
          <p:cNvPr id="12" name="Text 10"/>
          <p:cNvSpPr/>
          <p:nvPr/>
        </p:nvSpPr>
        <p:spPr>
          <a:xfrm>
            <a:off x="7939683" y="2789992"/>
            <a:ext cx="1171099" cy="617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spc="132" kern="0" dirty="0">
                <a:solidFill>
                  <a:srgbClr val="6F76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RPE-R (°)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9206032" y="3502462"/>
            <a:ext cx="1271468" cy="15240"/>
          </a:xfrm>
          <a:prstGeom prst="rect">
            <a:avLst/>
          </a:prstGeom>
          <a:solidFill>
            <a:srgbClr val="161A24"/>
          </a:solidFill>
          <a:ln/>
        </p:spPr>
      </p:sp>
      <p:sp>
        <p:nvSpPr>
          <p:cNvPr id="14" name="Text 12"/>
          <p:cNvSpPr/>
          <p:nvPr/>
        </p:nvSpPr>
        <p:spPr>
          <a:xfrm>
            <a:off x="9377482" y="2789992"/>
            <a:ext cx="1004768" cy="617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spc="132" kern="0" dirty="0">
                <a:solidFill>
                  <a:srgbClr val="6F76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DRIFT %</a:t>
            </a:r>
            <a:endParaRPr lang="en-US" sz="1650" dirty="0"/>
          </a:p>
        </p:txBody>
      </p:sp>
      <p:sp>
        <p:nvSpPr>
          <p:cNvPr id="15" name="Shape 13"/>
          <p:cNvSpPr/>
          <p:nvPr/>
        </p:nvSpPr>
        <p:spPr>
          <a:xfrm>
            <a:off x="1143000" y="4150162"/>
            <a:ext cx="9334500" cy="9525"/>
          </a:xfrm>
          <a:prstGeom prst="rect">
            <a:avLst/>
          </a:prstGeom>
          <a:solidFill>
            <a:srgbClr val="D8D1C2"/>
          </a:solidFill>
          <a:ln/>
        </p:spPr>
      </p:sp>
      <p:sp>
        <p:nvSpPr>
          <p:cNvPr id="16" name="Text 14"/>
          <p:cNvSpPr/>
          <p:nvPr/>
        </p:nvSpPr>
        <p:spPr>
          <a:xfrm>
            <a:off x="1314450" y="3651052"/>
            <a:ext cx="326390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6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Initial outdoor preset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4816197" y="3651052"/>
            <a:ext cx="1378387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61A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0.59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6461284" y="3651052"/>
            <a:ext cx="1211699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61A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0.075</a:t>
            </a:r>
            <a:endParaRPr lang="en-US" sz="1950" dirty="0"/>
          </a:p>
        </p:txBody>
      </p:sp>
      <p:sp>
        <p:nvSpPr>
          <p:cNvPr id="19" name="Text 17"/>
          <p:cNvSpPr/>
          <p:nvPr/>
        </p:nvSpPr>
        <p:spPr>
          <a:xfrm>
            <a:off x="7939683" y="3651052"/>
            <a:ext cx="1171099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61A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5.49</a:t>
            </a:r>
            <a:endParaRPr lang="en-US" sz="1950" dirty="0"/>
          </a:p>
        </p:txBody>
      </p:sp>
      <p:sp>
        <p:nvSpPr>
          <p:cNvPr id="20" name="Text 18"/>
          <p:cNvSpPr/>
          <p:nvPr/>
        </p:nvSpPr>
        <p:spPr>
          <a:xfrm>
            <a:off x="9377482" y="3651052"/>
            <a:ext cx="1004768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61A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13.31</a:t>
            </a:r>
            <a:endParaRPr lang="en-US" sz="1950" dirty="0"/>
          </a:p>
        </p:txBody>
      </p:sp>
      <p:sp>
        <p:nvSpPr>
          <p:cNvPr id="21" name="Shape 19"/>
          <p:cNvSpPr/>
          <p:nvPr/>
        </p:nvSpPr>
        <p:spPr>
          <a:xfrm>
            <a:off x="1143000" y="4786432"/>
            <a:ext cx="9334500" cy="9525"/>
          </a:xfrm>
          <a:prstGeom prst="rect">
            <a:avLst/>
          </a:prstGeom>
          <a:solidFill>
            <a:srgbClr val="D8D1C2"/>
          </a:solidFill>
          <a:ln/>
        </p:spPr>
      </p:sp>
      <p:sp>
        <p:nvSpPr>
          <p:cNvPr id="22" name="Text 20"/>
          <p:cNvSpPr/>
          <p:nvPr/>
        </p:nvSpPr>
        <p:spPr>
          <a:xfrm>
            <a:off x="1314450" y="4291132"/>
            <a:ext cx="3263900" cy="4076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6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GT in camera frame</a:t>
            </a:r>
            <a:endParaRPr lang="en-US" sz="1950" dirty="0"/>
          </a:p>
        </p:txBody>
      </p:sp>
      <p:sp>
        <p:nvSpPr>
          <p:cNvPr id="23" name="Text 21"/>
          <p:cNvSpPr/>
          <p:nvPr/>
        </p:nvSpPr>
        <p:spPr>
          <a:xfrm>
            <a:off x="4816197" y="4291132"/>
            <a:ext cx="1378387" cy="4076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61A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0.42</a:t>
            </a:r>
            <a:endParaRPr lang="en-US" sz="1950" dirty="0"/>
          </a:p>
        </p:txBody>
      </p:sp>
      <p:sp>
        <p:nvSpPr>
          <p:cNvPr id="24" name="Text 22"/>
          <p:cNvSpPr/>
          <p:nvPr/>
        </p:nvSpPr>
        <p:spPr>
          <a:xfrm>
            <a:off x="6461284" y="4291132"/>
            <a:ext cx="1211699" cy="4076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61A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0.061</a:t>
            </a:r>
            <a:endParaRPr lang="en-US" sz="1950" dirty="0"/>
          </a:p>
        </p:txBody>
      </p:sp>
      <p:sp>
        <p:nvSpPr>
          <p:cNvPr id="25" name="Text 23"/>
          <p:cNvSpPr/>
          <p:nvPr/>
        </p:nvSpPr>
        <p:spPr>
          <a:xfrm>
            <a:off x="7939683" y="4291132"/>
            <a:ext cx="1171099" cy="4076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61A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2.27</a:t>
            </a:r>
            <a:endParaRPr lang="en-US" sz="1950" dirty="0"/>
          </a:p>
        </p:txBody>
      </p:sp>
      <p:sp>
        <p:nvSpPr>
          <p:cNvPr id="26" name="Text 24"/>
          <p:cNvSpPr/>
          <p:nvPr/>
        </p:nvSpPr>
        <p:spPr>
          <a:xfrm>
            <a:off x="9377482" y="4291132"/>
            <a:ext cx="1004768" cy="4076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61A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6.06</a:t>
            </a:r>
            <a:endParaRPr lang="en-US" sz="1950" dirty="0"/>
          </a:p>
        </p:txBody>
      </p:sp>
      <p:sp>
        <p:nvSpPr>
          <p:cNvPr id="27" name="Shape 25"/>
          <p:cNvSpPr/>
          <p:nvPr/>
        </p:nvSpPr>
        <p:spPr>
          <a:xfrm>
            <a:off x="1143000" y="5754172"/>
            <a:ext cx="9334500" cy="9525"/>
          </a:xfrm>
          <a:prstGeom prst="rect">
            <a:avLst/>
          </a:prstGeom>
          <a:solidFill>
            <a:srgbClr val="D8D1C2"/>
          </a:solidFill>
          <a:ln/>
        </p:spPr>
      </p:sp>
      <p:sp>
        <p:nvSpPr>
          <p:cNvPr id="28" name="Text 26"/>
          <p:cNvSpPr/>
          <p:nvPr/>
        </p:nvSpPr>
        <p:spPr>
          <a:xfrm>
            <a:off x="1314450" y="4927402"/>
            <a:ext cx="3263900" cy="739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6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tighter depth gating + LM refine</a:t>
            </a:r>
            <a:endParaRPr lang="en-US" sz="1950" dirty="0"/>
          </a:p>
        </p:txBody>
      </p:sp>
      <p:sp>
        <p:nvSpPr>
          <p:cNvPr id="29" name="Text 27"/>
          <p:cNvSpPr/>
          <p:nvPr/>
        </p:nvSpPr>
        <p:spPr>
          <a:xfrm>
            <a:off x="4816197" y="4927402"/>
            <a:ext cx="1378387" cy="739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61A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0.28</a:t>
            </a:r>
            <a:endParaRPr lang="en-US" sz="1950" dirty="0"/>
          </a:p>
        </p:txBody>
      </p:sp>
      <p:sp>
        <p:nvSpPr>
          <p:cNvPr id="30" name="Text 28"/>
          <p:cNvSpPr/>
          <p:nvPr/>
        </p:nvSpPr>
        <p:spPr>
          <a:xfrm>
            <a:off x="6461284" y="4927402"/>
            <a:ext cx="1211699" cy="739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61A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0.046</a:t>
            </a:r>
            <a:endParaRPr lang="en-US" sz="1950" dirty="0"/>
          </a:p>
        </p:txBody>
      </p:sp>
      <p:sp>
        <p:nvSpPr>
          <p:cNvPr id="31" name="Text 29"/>
          <p:cNvSpPr/>
          <p:nvPr/>
        </p:nvSpPr>
        <p:spPr>
          <a:xfrm>
            <a:off x="7939683" y="4927402"/>
            <a:ext cx="1171099" cy="739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61A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1.94</a:t>
            </a:r>
            <a:endParaRPr lang="en-US" sz="1950" dirty="0"/>
          </a:p>
        </p:txBody>
      </p:sp>
      <p:sp>
        <p:nvSpPr>
          <p:cNvPr id="32" name="Text 30"/>
          <p:cNvSpPr/>
          <p:nvPr/>
        </p:nvSpPr>
        <p:spPr>
          <a:xfrm>
            <a:off x="9377482" y="4927402"/>
            <a:ext cx="1004768" cy="739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61A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4.81</a:t>
            </a:r>
            <a:endParaRPr lang="en-US" sz="1950" dirty="0"/>
          </a:p>
        </p:txBody>
      </p:sp>
      <p:sp>
        <p:nvSpPr>
          <p:cNvPr id="33" name="Shape 31"/>
          <p:cNvSpPr/>
          <p:nvPr/>
        </p:nvSpPr>
        <p:spPr>
          <a:xfrm>
            <a:off x="1143000" y="5761792"/>
            <a:ext cx="9334500" cy="624840"/>
          </a:xfrm>
          <a:prstGeom prst="rect">
            <a:avLst/>
          </a:prstGeom>
          <a:solidFill>
            <a:srgbClr val="2A6F4F">
              <a:alpha val="6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1314450" y="5895142"/>
            <a:ext cx="3263900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6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FB-LK consistency</a:t>
            </a:r>
            <a:endParaRPr lang="en-US" sz="1950" dirty="0"/>
          </a:p>
        </p:txBody>
      </p:sp>
      <p:sp>
        <p:nvSpPr>
          <p:cNvPr id="35" name="Text 33"/>
          <p:cNvSpPr/>
          <p:nvPr/>
        </p:nvSpPr>
        <p:spPr>
          <a:xfrm>
            <a:off x="4816197" y="5895142"/>
            <a:ext cx="1378387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61A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0.16</a:t>
            </a:r>
            <a:endParaRPr lang="en-US" sz="1950" dirty="0"/>
          </a:p>
        </p:txBody>
      </p:sp>
      <p:sp>
        <p:nvSpPr>
          <p:cNvPr id="36" name="Text 34"/>
          <p:cNvSpPr/>
          <p:nvPr/>
        </p:nvSpPr>
        <p:spPr>
          <a:xfrm>
            <a:off x="6461284" y="5895142"/>
            <a:ext cx="1211699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61A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0.037</a:t>
            </a:r>
            <a:endParaRPr lang="en-US" sz="1950" dirty="0"/>
          </a:p>
        </p:txBody>
      </p:sp>
      <p:sp>
        <p:nvSpPr>
          <p:cNvPr id="37" name="Text 35"/>
          <p:cNvSpPr/>
          <p:nvPr/>
        </p:nvSpPr>
        <p:spPr>
          <a:xfrm>
            <a:off x="7939683" y="5895142"/>
            <a:ext cx="1171099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61A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1.62</a:t>
            </a:r>
            <a:endParaRPr lang="en-US" sz="1950" dirty="0"/>
          </a:p>
        </p:txBody>
      </p:sp>
      <p:sp>
        <p:nvSpPr>
          <p:cNvPr id="38" name="Text 36"/>
          <p:cNvSpPr/>
          <p:nvPr/>
        </p:nvSpPr>
        <p:spPr>
          <a:xfrm>
            <a:off x="9377482" y="5895142"/>
            <a:ext cx="1004768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61A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4.10</a:t>
            </a:r>
            <a:endParaRPr lang="en-US" sz="1950" dirty="0"/>
          </a:p>
        </p:txBody>
      </p:sp>
      <p:sp>
        <p:nvSpPr>
          <p:cNvPr id="39" name="Text 37"/>
          <p:cNvSpPr/>
          <p:nvPr/>
        </p:nvSpPr>
        <p:spPr>
          <a:xfrm>
            <a:off x="11010900" y="2656642"/>
            <a:ext cx="6318123" cy="9639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700" dirty="0">
                <a:solidFill>
                  <a:srgbClr val="16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component pulls its weight — none is redundant.</a:t>
            </a:r>
            <a:endParaRPr lang="en-US" sz="2700" dirty="0"/>
          </a:p>
        </p:txBody>
      </p:sp>
      <p:sp>
        <p:nvSpPr>
          <p:cNvPr id="40" name="Text 38"/>
          <p:cNvSpPr/>
          <p:nvPr/>
        </p:nvSpPr>
        <p:spPr>
          <a:xfrm>
            <a:off x="11010900" y="4001572"/>
            <a:ext cx="6318123" cy="11739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2000"/>
              </a:lnSpc>
              <a:buNone/>
            </a:pPr>
            <a:r>
              <a:rPr lang="en-US" sz="2100" dirty="0">
                <a:solidFill>
                  <a:srgbClr val="16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largest individual gain comes from the camera–IMU frame correction; on rotational RPE alone it more than halves the residual.</a:t>
            </a:r>
            <a:endParaRPr lang="en-US" sz="2100" dirty="0"/>
          </a:p>
        </p:txBody>
      </p:sp>
      <p:sp>
        <p:nvSpPr>
          <p:cNvPr id="41" name="Text 39"/>
          <p:cNvSpPr/>
          <p:nvPr/>
        </p:nvSpPr>
        <p:spPr>
          <a:xfrm>
            <a:off x="11010900" y="5823228"/>
            <a:ext cx="6318123" cy="11739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2000"/>
              </a:lnSpc>
              <a:buNone/>
            </a:pPr>
            <a:r>
              <a:rPr lang="en-US" sz="2100" dirty="0">
                <a:solidFill>
                  <a:srgbClr val="16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Tighter depth gating and LM refinement together cut per-segment ATE by a third, addressing the quadratic depth-uncertainty problem outdoors.</a:t>
            </a:r>
            <a:endParaRPr lang="en-US" sz="2100" dirty="0"/>
          </a:p>
        </p:txBody>
      </p:sp>
      <p:sp>
        <p:nvSpPr>
          <p:cNvPr id="42" name="Text 40"/>
          <p:cNvSpPr/>
          <p:nvPr/>
        </p:nvSpPr>
        <p:spPr>
          <a:xfrm>
            <a:off x="11010900" y="7644884"/>
            <a:ext cx="6318123" cy="7953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2000"/>
              </a:lnSpc>
              <a:buNone/>
            </a:pPr>
            <a:r>
              <a:rPr lang="en-US" sz="2100" dirty="0">
                <a:solidFill>
                  <a:srgbClr val="16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Forward–backward LK is the final, decisive step — per-segment ATE 0.16 m, drift rate 4.1 %.</a:t>
            </a:r>
            <a:endParaRPr lang="en-US" sz="2100" dirty="0"/>
          </a:p>
        </p:txBody>
      </p:sp>
      <p:sp>
        <p:nvSpPr>
          <p:cNvPr id="43" name="Text 41"/>
          <p:cNvSpPr/>
          <p:nvPr/>
        </p:nvSpPr>
        <p:spPr>
          <a:xfrm>
            <a:off x="1143000" y="9460230"/>
            <a:ext cx="5284438" cy="33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spc="132" kern="0" dirty="0">
                <a:solidFill>
                  <a:srgbClr val="6F76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Monocular to Stereo VO · TUM VI</a:t>
            </a:r>
            <a:endParaRPr lang="en-US" sz="1650" dirty="0"/>
          </a:p>
        </p:txBody>
      </p:sp>
      <p:sp>
        <p:nvSpPr>
          <p:cNvPr id="44" name="Text 42"/>
          <p:cNvSpPr/>
          <p:nvPr/>
        </p:nvSpPr>
        <p:spPr>
          <a:xfrm>
            <a:off x="16147376" y="9460230"/>
            <a:ext cx="1073825" cy="33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spc="132" kern="0" dirty="0">
                <a:solidFill>
                  <a:srgbClr val="6F76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 / 23</a:t>
            </a:r>
            <a:endParaRPr lang="en-US" sz="16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31A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685800"/>
            <a:ext cx="16482060" cy="33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spc="264" kern="0" dirty="0">
                <a:solidFill>
                  <a:srgbClr val="B0BD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 / CLOSING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143000" y="1112520"/>
            <a:ext cx="14716125" cy="6963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800" spc="-48" kern="0" dirty="0">
                <a:solidFill>
                  <a:srgbClr val="F7F2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 and Next Steps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1143000" y="2075617"/>
            <a:ext cx="16002000" cy="9525"/>
          </a:xfrm>
          <a:prstGeom prst="rect">
            <a:avLst/>
          </a:prstGeom>
          <a:solidFill>
            <a:srgbClr val="2D3550"/>
          </a:solidFill>
          <a:ln/>
        </p:spPr>
      </p:sp>
      <p:sp>
        <p:nvSpPr>
          <p:cNvPr id="5" name="Text 3"/>
          <p:cNvSpPr/>
          <p:nvPr/>
        </p:nvSpPr>
        <p:spPr>
          <a:xfrm>
            <a:off x="1143000" y="2885242"/>
            <a:ext cx="9810750" cy="1889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700" dirty="0">
                <a:solidFill>
                  <a:srgbClr val="F7F2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classical, geometry-only stereo VO pipeline reaches near-zero hard-skip rates and single-digit drift on the TUM VI fisheye benchmark — without deep learning and without loop closure.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1485900" y="5060752"/>
            <a:ext cx="9467850" cy="4648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400" dirty="0">
                <a:solidFill>
                  <a:srgbClr val="B0BD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Hard-skip rate </a:t>
            </a:r>
            <a:pPr algn="l" indent="0" marL="0">
              <a:lnSpc>
                <a:spcPct val="140000"/>
              </a:lnSpc>
              <a:buNone/>
            </a:pPr>
            <a:r>
              <a:rPr lang="en-US" sz="2400" dirty="0">
                <a:solidFill>
                  <a:srgbClr val="F7F2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≤ 0.1 % vs. 4.7 %–13.1 % monocular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485900" y="5697021"/>
            <a:ext cx="9467850" cy="4648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400" dirty="0">
                <a:solidFill>
                  <a:srgbClr val="B0BD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Per-segment ATE </a:t>
            </a:r>
            <a:pPr algn="l" indent="0" marL="0">
              <a:lnSpc>
                <a:spcPct val="140000"/>
              </a:lnSpc>
              <a:buNone/>
            </a:pPr>
            <a:r>
              <a:rPr lang="en-US" sz="2400" dirty="0">
                <a:solidFill>
                  <a:srgbClr val="F7F2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≤ 0.29 m on every GT-covered interval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485900" y="6333292"/>
            <a:ext cx="9467850" cy="4648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400" dirty="0">
                <a:solidFill>
                  <a:srgbClr val="B0BD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Gap-aware RPE-t </a:t>
            </a:r>
            <a:pPr algn="l" indent="0" marL="0">
              <a:lnSpc>
                <a:spcPct val="140000"/>
              </a:lnSpc>
              <a:buNone/>
            </a:pPr>
            <a:r>
              <a:rPr lang="en-US" sz="2400" dirty="0">
                <a:solidFill>
                  <a:srgbClr val="F7F2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210× to 502× improvement over monocular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485900" y="6969562"/>
            <a:ext cx="9467850" cy="4648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400" dirty="0">
                <a:solidFill>
                  <a:srgbClr val="B0BD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Path-normalised drift </a:t>
            </a:r>
            <a:pPr algn="l" indent="0" marL="0">
              <a:lnSpc>
                <a:spcPct val="140000"/>
              </a:lnSpc>
              <a:buNone/>
            </a:pPr>
            <a:r>
              <a:rPr lang="en-US" sz="2400" dirty="0">
                <a:solidFill>
                  <a:srgbClr val="F7F2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0.72 %–4.10 % over 1,575 m of trajectory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485900" y="7605832"/>
            <a:ext cx="9467850" cy="4648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400" dirty="0">
                <a:solidFill>
                  <a:srgbClr val="B0BD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Rotational RPE </a:t>
            </a:r>
            <a:pPr algn="l" indent="0" marL="0">
              <a:lnSpc>
                <a:spcPct val="140000"/>
              </a:lnSpc>
              <a:buNone/>
            </a:pPr>
            <a:r>
              <a:rPr lang="en-US" sz="2400" dirty="0">
                <a:solidFill>
                  <a:srgbClr val="F7F2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≤ 1.7° once the camera–IMU frame is corrected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11430000" y="2885242"/>
            <a:ext cx="5715000" cy="4754880"/>
          </a:xfrm>
          <a:prstGeom prst="rect">
            <a:avLst/>
          </a:prstGeom>
          <a:ln w="7620">
            <a:solidFill>
              <a:srgbClr val="2D355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780520" y="3159562"/>
            <a:ext cx="5164379" cy="33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spc="264" kern="0" dirty="0">
                <a:solidFill>
                  <a:srgbClr val="B0BD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PATH TO FULL SLAM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11593830" y="3605332"/>
            <a:ext cx="5276850" cy="37985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100" dirty="0">
                <a:solidFill>
                  <a:srgbClr val="F7F2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bundle adjustment over a sliding window of recent poses and map points.</a:t>
            </a:r>
            <a:endParaRPr lang="en-US" sz="21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2100" dirty="0">
                <a:solidFill>
                  <a:srgbClr val="F7F2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DBoW2 vocabulary-tree place recognition for loop closure.</a:t>
            </a:r>
            <a:endParaRPr lang="en-US" sz="21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2100" dirty="0">
                <a:solidFill>
                  <a:srgbClr val="F7F2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 Hz IMU pre-integration to counter rotational drift directly.</a:t>
            </a:r>
            <a:endParaRPr lang="en-US" sz="21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2100" dirty="0">
                <a:solidFill>
                  <a:srgbClr val="F7F2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Marginalisation-based window filter to replace per-frame PnP.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1143000" y="9460230"/>
            <a:ext cx="5284438" cy="33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spc="132" kern="0" dirty="0">
                <a:solidFill>
                  <a:srgbClr val="6E76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Monocular to Stereo VO · TUM VI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16147376" y="9460230"/>
            <a:ext cx="1073825" cy="33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spc="132" kern="0" dirty="0">
                <a:solidFill>
                  <a:srgbClr val="6E76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22 / 23</a:t>
            </a:r>
            <a:endParaRPr lang="en-US" sz="16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7F2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533400"/>
            <a:ext cx="1350288" cy="33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spc="264" kern="0" dirty="0">
                <a:solidFill>
                  <a:srgbClr val="6F76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22 / FIN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1570970" y="533400"/>
            <a:ext cx="5741251" cy="33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spc="264" kern="0" dirty="0">
                <a:solidFill>
                  <a:srgbClr val="6F76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PER-QUESTION STATUS LOGGING ENABLED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6101809" y="2255877"/>
            <a:ext cx="6084382" cy="12450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96000"/>
              </a:lnSpc>
              <a:buNone/>
            </a:pPr>
            <a:r>
              <a:rPr lang="en-US" sz="9900" spc="-247" kern="0" dirty="0">
                <a:solidFill>
                  <a:srgbClr val="161A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you.</a:t>
            </a:r>
            <a:endParaRPr lang="en-US" sz="9900" dirty="0"/>
          </a:p>
        </p:txBody>
      </p:sp>
      <p:sp>
        <p:nvSpPr>
          <p:cNvPr id="5" name="Text 3"/>
          <p:cNvSpPr/>
          <p:nvPr/>
        </p:nvSpPr>
        <p:spPr>
          <a:xfrm>
            <a:off x="6200041" y="3920014"/>
            <a:ext cx="5887799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2250" i="1" dirty="0">
                <a:solidFill>
                  <a:srgbClr val="6F768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per-question status code, in the spirit of slide 15</a:t>
            </a:r>
            <a:endParaRPr lang="en-US" sz="2250" dirty="0"/>
          </a:p>
        </p:txBody>
      </p:sp>
      <p:sp>
        <p:nvSpPr>
          <p:cNvPr id="6" name="Shape 4"/>
          <p:cNvSpPr/>
          <p:nvPr/>
        </p:nvSpPr>
        <p:spPr>
          <a:xfrm>
            <a:off x="4031813" y="4701064"/>
            <a:ext cx="2514957" cy="487680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 w="7620">
            <a:solidFill>
              <a:srgbClr val="2A6F4F">
                <a:alpha val="4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91833" y="4784884"/>
            <a:ext cx="2271117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spc="72" kern="0" dirty="0">
                <a:solidFill>
                  <a:srgbClr val="2A6F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OK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889671" y="4723924"/>
            <a:ext cx="7587512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250" dirty="0">
                <a:solidFill>
                  <a:srgbClr val="16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 normal question.</a:t>
            </a:r>
            <a:endParaRPr lang="en-US" sz="2250" dirty="0"/>
          </a:p>
        </p:txBody>
      </p:sp>
      <p:sp>
        <p:nvSpPr>
          <p:cNvPr id="9" name="Shape 7"/>
          <p:cNvSpPr/>
          <p:nvPr/>
        </p:nvSpPr>
        <p:spPr>
          <a:xfrm>
            <a:off x="4031813" y="5398294"/>
            <a:ext cx="2514957" cy="487680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 w="7620">
            <a:solidFill>
              <a:srgbClr val="B68420">
                <a:alpha val="4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91833" y="5482114"/>
            <a:ext cx="2271117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spc="72" kern="0" dirty="0">
                <a:solidFill>
                  <a:srgbClr val="B684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REPROJ_LOW_CONF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889671" y="5421154"/>
            <a:ext cx="7587512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250" i="1" dirty="0">
                <a:solidFill>
                  <a:srgbClr val="2B3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"have you considered…" </a:t>
            </a:r>
            <a:pPr algn="l" indent="0" marL="0">
              <a:lnSpc>
                <a:spcPct val="130000"/>
              </a:lnSpc>
              <a:buNone/>
            </a:pPr>
            <a:r>
              <a:rPr lang="en-US" sz="2250" dirty="0">
                <a:solidFill>
                  <a:srgbClr val="16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suggestions in question form.</a:t>
            </a:r>
            <a:endParaRPr lang="en-US" sz="2250" dirty="0"/>
          </a:p>
        </p:txBody>
      </p:sp>
      <p:sp>
        <p:nvSpPr>
          <p:cNvPr id="12" name="Shape 10"/>
          <p:cNvSpPr/>
          <p:nvPr/>
        </p:nvSpPr>
        <p:spPr>
          <a:xfrm>
            <a:off x="4031813" y="6095524"/>
            <a:ext cx="2514957" cy="487680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 w="7620">
            <a:solidFill>
              <a:srgbClr val="B14A33">
                <a:alpha val="45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91833" y="6179344"/>
            <a:ext cx="2271117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spc="72" kern="0" dirty="0">
                <a:solidFill>
                  <a:srgbClr val="B14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TRACK_FAIL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889671" y="6118384"/>
            <a:ext cx="7587512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250" i="1" dirty="0">
                <a:solidFill>
                  <a:srgbClr val="2B3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"what about KITTI?" </a:t>
            </a:r>
            <a:pPr algn="l" indent="0" marL="0">
              <a:lnSpc>
                <a:spcPct val="130000"/>
              </a:lnSpc>
              <a:buNone/>
            </a:pPr>
            <a:r>
              <a:rPr lang="en-US" sz="2250" dirty="0">
                <a:solidFill>
                  <a:srgbClr val="16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a different dataset entirely.</a:t>
            </a:r>
            <a:endParaRPr lang="en-US" sz="2250" dirty="0"/>
          </a:p>
        </p:txBody>
      </p:sp>
      <p:sp>
        <p:nvSpPr>
          <p:cNvPr id="15" name="Shape 13"/>
          <p:cNvSpPr/>
          <p:nvPr/>
        </p:nvSpPr>
        <p:spPr>
          <a:xfrm>
            <a:off x="4031813" y="6792754"/>
            <a:ext cx="2514957" cy="487680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 w="7620">
            <a:solidFill>
              <a:srgbClr val="B14A33">
                <a:alpha val="45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91833" y="6876574"/>
            <a:ext cx="2271117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spc="72" kern="0" dirty="0">
                <a:solidFill>
                  <a:srgbClr val="B14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STEP_REJECT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889671" y="6815614"/>
            <a:ext cx="7587512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250" i="1" dirty="0">
                <a:solidFill>
                  <a:srgbClr val="2B3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"is this real-time?" </a:t>
            </a:r>
            <a:pPr algn="l" indent="0" marL="0">
              <a:lnSpc>
                <a:spcPct val="130000"/>
              </a:lnSpc>
              <a:buNone/>
            </a:pPr>
            <a:r>
              <a:rPr lang="en-US" sz="2250" dirty="0">
                <a:solidFill>
                  <a:srgbClr val="16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please see slide 20.</a:t>
            </a:r>
            <a:endParaRPr lang="en-US" sz="2250" dirty="0"/>
          </a:p>
        </p:txBody>
      </p:sp>
      <p:sp>
        <p:nvSpPr>
          <p:cNvPr id="18" name="Shape 16"/>
          <p:cNvSpPr/>
          <p:nvPr/>
        </p:nvSpPr>
        <p:spPr>
          <a:xfrm>
            <a:off x="7356991" y="7879556"/>
            <a:ext cx="762000" cy="9525"/>
          </a:xfrm>
          <a:prstGeom prst="rect">
            <a:avLst/>
          </a:prstGeom>
          <a:solidFill>
            <a:srgbClr val="D8D1C2"/>
          </a:solidFill>
          <a:ln/>
        </p:spPr>
      </p:sp>
      <p:sp>
        <p:nvSpPr>
          <p:cNvPr id="19" name="Text 17"/>
          <p:cNvSpPr/>
          <p:nvPr/>
        </p:nvSpPr>
        <p:spPr>
          <a:xfrm>
            <a:off x="8347591" y="7737634"/>
            <a:ext cx="1669018" cy="33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spc="264" kern="0" dirty="0">
                <a:solidFill>
                  <a:srgbClr val="6F76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QUESTIONS?</a:t>
            </a:r>
            <a:endParaRPr lang="en-US" sz="1650" dirty="0"/>
          </a:p>
        </p:txBody>
      </p:sp>
      <p:sp>
        <p:nvSpPr>
          <p:cNvPr id="20" name="Shape 18"/>
          <p:cNvSpPr/>
          <p:nvPr/>
        </p:nvSpPr>
        <p:spPr>
          <a:xfrm>
            <a:off x="10169010" y="7879556"/>
            <a:ext cx="762000" cy="9525"/>
          </a:xfrm>
          <a:prstGeom prst="rect">
            <a:avLst/>
          </a:prstGeom>
          <a:solidFill>
            <a:srgbClr val="D8D1C2"/>
          </a:solidFill>
          <a:ln/>
        </p:spPr>
      </p:sp>
      <p:sp>
        <p:nvSpPr>
          <p:cNvPr id="21" name="Text 19"/>
          <p:cNvSpPr/>
          <p:nvPr/>
        </p:nvSpPr>
        <p:spPr>
          <a:xfrm>
            <a:off x="1143000" y="9460230"/>
            <a:ext cx="5284438" cy="33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spc="132" kern="0" dirty="0">
                <a:solidFill>
                  <a:srgbClr val="6F76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Monocular to Stereo VO · TUM VI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16147376" y="9460230"/>
            <a:ext cx="1073825" cy="33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spc="132" kern="0" dirty="0">
                <a:solidFill>
                  <a:srgbClr val="6F76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23 / 23</a:t>
            </a:r>
            <a:endParaRPr lang="en-US" sz="1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2026-05-20T18:40:24Z</dcterms:created>
  <dcterms:modified xsi:type="dcterms:W3CDTF">2026-05-20T18:40:24Z</dcterms:modified>
</cp:coreProperties>
</file>